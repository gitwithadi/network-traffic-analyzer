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c28a181-c199-0dd4-6eaf-7a05217fe8ad}">
          <p14:sldIdLst>
            <p14:sldId id="256"/>
            <p14:sldId id="257"/>
          </p14:sldIdLst>
        </p14:section>
        <p14:section name="Method" id="{fcc15cdb-8cb8-8790-af1e-9e0225a46c56}">
          <p14:sldIdLst>
            <p14:sldId id="258"/>
            <p14:sldId id="259"/>
            <p14:sldId id="260"/>
            <p14:sldId id="261"/>
          </p14:sldIdLst>
        </p14:section>
        <p14:section name="Evaluation" id="{dca57593-11a1-92f8-35d8-b798d283afab}">
          <p14:sldIdLst>
            <p14:sldId id="262"/>
            <p14:sldId id="263"/>
            <p14:sldId id="264"/>
          </p14:sldIdLst>
        </p14:section>
        <p14:section name="Wrap-up" id="{ae9b05d5-1c23-8a52-d85f-43ec9c6db414}">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E4A55"/>
                </a:solidFill>
                <a:latin typeface="+mn-lt"/>
              </a:defRPr>
            </a:pPr>
            <a:r>
              <a:rPr sz="1400" b="0" i="0" u="none" strike="noStrike">
                <a:solidFill>
                  <a:srgbClr val="2E4A55"/>
                </a:solidFill>
                <a:latin typeface="+mn-lt"/>
              </a:rPr>
              <a:t>M3  Kernel drop rate (%)</a:t>
            </a:r>
          </a:p>
        </c:rich>
      </c:tx>
      <c:layout/>
      <c:overlay val="0"/>
    </c:title>
    <c:autoTitleDeleted val="0"/>
    <c:plotArea>
      <c:layout/>
      <c:barChart>
        <c:barDir val="col"/>
        <c:grouping val="clustered"/>
        <c:varyColors val="0"/>
        <c:ser>
          <c:idx val="0"/>
          <c:order val="0"/>
          <c:tx>
            <c:strRef>
              <c:f>Sheet1!$B$1</c:f>
              <c:strCache>
                <c:ptCount val="1"/>
                <c:pt idx="0">
                  <c:v>Baseline</c:v>
                </c:pt>
              </c:strCache>
            </c:strRef>
          </c:tx>
          <c:spPr>
            <a:solidFill>
              <a:srgbClr val="D1495B"/>
            </a:solidFill>
            <a:effectLst/>
          </c:spPr>
          <c:invertIfNegative val="0"/>
          <c:dLbls>
            <c:numFmt formatCode="0.0" sourceLinked="0"/>
            <c:txPr>
              <a:bodyPr/>
              <a:lstStyle/>
              <a:p>
                <a:pPr>
                  <a:defRPr b="0" i="0" strike="noStrike" sz="1100" u="none">
                    <a:solidFill>
                      <a:srgbClr val="2E4A55"/>
                    </a:solidFill>
                    <a:latin typeface="+mn-lt"/>
                  </a:defRPr>
                </a:pPr>
              </a:p>
            </c:txPr>
            <c:showLegendKey val="0"/>
            <c:showVal val="1"/>
            <c:showCatName val="0"/>
            <c:showSerName val="0"/>
            <c:showPercent val="0"/>
            <c:showBubbleSize val="0"/>
            <c:showLeaderLines val="0"/>
          </c:dLbls>
          <c:cat>
            <c:multiLvlStrRef>
              <c:f>Sheet1!$A$2:$A$4</c:f>
              <c:multiLvlStrCache>
                <c:ptCount val="3"/>
                <c:lvl>
                  <c:pt idx="0">
                    <c:v>S1  50/s</c:v>
                  </c:pt>
                  <c:pt idx="1">
                    <c:v>S2  1,000/s</c:v>
                  </c:pt>
                  <c:pt idx="2">
                    <c:v>S3  10,000/s</c:v>
                  </c:pt>
                </c:lvl>
              </c:multiLvlStrCache>
            </c:multiLvlStrRef>
          </c:cat>
          <c:val>
            <c:numRef>
              <c:f>Sheet1!$B$2:$B$4</c:f>
              <c:numCache>
                <c:formatCode>General</c:formatCode>
                <c:ptCount val="3"/>
                <c:pt idx="0">
                  <c:v>87.25</c:v>
                </c:pt>
                <c:pt idx="1">
                  <c:v>87.98</c:v>
                </c:pt>
                <c:pt idx="2">
                  <c:v>91.98</c:v>
                </c:pt>
              </c:numCache>
            </c:numRef>
          </c:val>
        </c:ser>
        <c:ser>
          <c:idx val="1"/>
          <c:order val="1"/>
          <c:tx>
            <c:strRef>
              <c:f>Sheet1!$C$1</c:f>
              <c:strCache>
                <c:ptCount val="1"/>
                <c:pt idx="0">
                  <c:v>Proposed</c:v>
                </c:pt>
              </c:strCache>
            </c:strRef>
          </c:tx>
          <c:spPr>
            <a:solidFill>
              <a:srgbClr val="0E8A94"/>
            </a:solidFill>
            <a:effectLst/>
          </c:spPr>
          <c:invertIfNegative val="0"/>
          <c:dLbls>
            <c:numFmt formatCode="0.0" sourceLinked="0"/>
            <c:txPr>
              <a:bodyPr/>
              <a:lstStyle/>
              <a:p>
                <a:pPr>
                  <a:defRPr b="0" i="0" strike="noStrike" sz="1100" u="none">
                    <a:solidFill>
                      <a:srgbClr val="2E4A55"/>
                    </a:solidFill>
                    <a:latin typeface="+mn-lt"/>
                  </a:defRPr>
                </a:pPr>
              </a:p>
            </c:txPr>
            <c:showLegendKey val="0"/>
            <c:showVal val="1"/>
            <c:showCatName val="0"/>
            <c:showSerName val="0"/>
            <c:showPercent val="0"/>
            <c:showBubbleSize val="0"/>
            <c:showLeaderLines val="0"/>
          </c:dLbls>
          <c:cat>
            <c:multiLvlStrRef>
              <c:f>Sheet1!$A$2:$A$4</c:f>
              <c:multiLvlStrCache>
                <c:ptCount val="3"/>
                <c:lvl>
                  <c:pt idx="0">
                    <c:v>S1  50/s</c:v>
                  </c:pt>
                  <c:pt idx="1">
                    <c:v>S2  1,000/s</c:v>
                  </c:pt>
                  <c:pt idx="2">
                    <c:v>S3  10,000/s</c:v>
                  </c:pt>
                </c:lvl>
              </c:multiLvlStrCache>
            </c:multiLvlStrRef>
          </c:cat>
          <c:val>
            <c:numRef>
              <c:f>Sheet1!$C$2:$C$4</c:f>
              <c:numCache>
                <c:formatCode>General</c:formatCode>
                <c:ptCount val="3"/>
                <c:pt idx="0">
                  <c:v>0</c:v>
                </c:pt>
                <c:pt idx="1">
                  <c:v>0</c:v>
                </c:pt>
                <c:pt idx="2">
                  <c:v>78.98</c:v>
                </c:pt>
              </c:numCache>
            </c:numRef>
          </c:val>
        </c:ser>
        <c:dLbls>
          <c:numFmt formatCode="0.0" sourceLinked="0"/>
          <c:txPr>
            <a:bodyPr/>
            <a:lstStyle/>
            <a:p>
              <a:pPr>
                <a:defRPr b="0" i="0" strike="noStrike" sz="1100" u="none">
                  <a:solidFill>
                    <a:srgbClr val="2E4A55"/>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E4A55"/>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5E1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2E4A55"/>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200">
              <a:solidFill>
                <a:srgbClr val="2E4A55"/>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E4A55"/>
                </a:solidFill>
                <a:latin typeface="+mn-lt"/>
              </a:defRPr>
            </a:pPr>
            <a:r>
              <a:rPr sz="1400" b="0" i="0" u="none" strike="noStrike">
                <a:solidFill>
                  <a:srgbClr val="2E4A55"/>
                </a:solidFill>
                <a:latin typeface="+mn-lt"/>
              </a:rPr>
              <a:t>M5  Offered IPv6 traffic analysed (%)</a:t>
            </a:r>
          </a:p>
        </c:rich>
      </c:tx>
      <c:layout/>
      <c:overlay val="0"/>
    </c:title>
    <c:autoTitleDeleted val="0"/>
    <c:plotArea>
      <c:layout/>
      <c:barChart>
        <c:barDir val="col"/>
        <c:grouping val="clustered"/>
        <c:varyColors val="0"/>
        <c:ser>
          <c:idx val="0"/>
          <c:order val="0"/>
          <c:tx>
            <c:strRef>
              <c:f>Sheet1!$B$1</c:f>
              <c:strCache>
                <c:ptCount val="1"/>
                <c:pt idx="0">
                  <c:v>Baseline</c:v>
                </c:pt>
              </c:strCache>
            </c:strRef>
          </c:tx>
          <c:spPr>
            <a:solidFill>
              <a:srgbClr val="D1495B"/>
            </a:solidFill>
            <a:effectLst/>
          </c:spPr>
          <c:invertIfNegative val="0"/>
          <c:dLbls>
            <c:numFmt formatCode="0.0" sourceLinked="0"/>
            <c:txPr>
              <a:bodyPr/>
              <a:lstStyle/>
              <a:p>
                <a:pPr>
                  <a:defRPr b="0" i="0" strike="noStrike" sz="1100" u="none">
                    <a:solidFill>
                      <a:srgbClr val="2E4A55"/>
                    </a:solidFill>
                    <a:latin typeface="+mn-lt"/>
                  </a:defRPr>
                </a:pPr>
              </a:p>
            </c:txPr>
            <c:showLegendKey val="0"/>
            <c:showVal val="1"/>
            <c:showCatName val="0"/>
            <c:showSerName val="0"/>
            <c:showPercent val="0"/>
            <c:showBubbleSize val="0"/>
            <c:showLeaderLines val="0"/>
          </c:dLbls>
          <c:cat>
            <c:multiLvlStrRef>
              <c:f>Sheet1!$A$2:$A$4</c:f>
              <c:multiLvlStrCache>
                <c:ptCount val="3"/>
                <c:lvl>
                  <c:pt idx="0">
                    <c:v>S1  50/s</c:v>
                  </c:pt>
                  <c:pt idx="1">
                    <c:v>S2  1,000/s</c:v>
                  </c:pt>
                  <c:pt idx="2">
                    <c:v>S3  10,000/s</c:v>
                  </c:pt>
                </c:lvl>
              </c:multiLvlStrCache>
            </c:multiLvlStrRef>
          </c:cat>
          <c:val>
            <c:numRef>
              <c:f>Sheet1!$B$2:$B$4</c:f>
              <c:numCache>
                <c:formatCode>General</c:formatCode>
                <c:ptCount val="3"/>
                <c:pt idx="0">
                  <c:v>13.7</c:v>
                </c:pt>
                <c:pt idx="1">
                  <c:v>8.1</c:v>
                </c:pt>
                <c:pt idx="2">
                  <c:v>3.1</c:v>
                </c:pt>
              </c:numCache>
            </c:numRef>
          </c:val>
        </c:ser>
        <c:ser>
          <c:idx val="1"/>
          <c:order val="1"/>
          <c:tx>
            <c:strRef>
              <c:f>Sheet1!$C$1</c:f>
              <c:strCache>
                <c:ptCount val="1"/>
                <c:pt idx="0">
                  <c:v>Proposed</c:v>
                </c:pt>
              </c:strCache>
            </c:strRef>
          </c:tx>
          <c:spPr>
            <a:solidFill>
              <a:srgbClr val="0E8A94"/>
            </a:solidFill>
            <a:effectLst/>
          </c:spPr>
          <c:invertIfNegative val="0"/>
          <c:dLbls>
            <c:numFmt formatCode="0.0" sourceLinked="0"/>
            <c:txPr>
              <a:bodyPr/>
              <a:lstStyle/>
              <a:p>
                <a:pPr>
                  <a:defRPr b="0" i="0" strike="noStrike" sz="1100" u="none">
                    <a:solidFill>
                      <a:srgbClr val="2E4A55"/>
                    </a:solidFill>
                    <a:latin typeface="+mn-lt"/>
                  </a:defRPr>
                </a:pPr>
              </a:p>
            </c:txPr>
            <c:showLegendKey val="0"/>
            <c:showVal val="1"/>
            <c:showCatName val="0"/>
            <c:showSerName val="0"/>
            <c:showPercent val="0"/>
            <c:showBubbleSize val="0"/>
            <c:showLeaderLines val="0"/>
          </c:dLbls>
          <c:cat>
            <c:multiLvlStrRef>
              <c:f>Sheet1!$A$2:$A$4</c:f>
              <c:multiLvlStrCache>
                <c:ptCount val="3"/>
                <c:lvl>
                  <c:pt idx="0">
                    <c:v>S1  50/s</c:v>
                  </c:pt>
                  <c:pt idx="1">
                    <c:v>S2  1,000/s</c:v>
                  </c:pt>
                  <c:pt idx="2">
                    <c:v>S3  10,000/s</c:v>
                  </c:pt>
                </c:lvl>
              </c:multiLvlStrCache>
            </c:multiLvlStrRef>
          </c:cat>
          <c:val>
            <c:numRef>
              <c:f>Sheet1!$C$2:$C$4</c:f>
              <c:numCache>
                <c:formatCode>General</c:formatCode>
                <c:ptCount val="3"/>
                <c:pt idx="0">
                  <c:v>100</c:v>
                </c:pt>
                <c:pt idx="1">
                  <c:v>100</c:v>
                </c:pt>
                <c:pt idx="2">
                  <c:v>19.8</c:v>
                </c:pt>
              </c:numCache>
            </c:numRef>
          </c:val>
        </c:ser>
        <c:dLbls>
          <c:numFmt formatCode="0.0" sourceLinked="0"/>
          <c:txPr>
            <a:bodyPr/>
            <a:lstStyle/>
            <a:p>
              <a:pPr>
                <a:defRPr b="0" i="0" strike="noStrike" sz="1100" u="none">
                  <a:solidFill>
                    <a:srgbClr val="2E4A55"/>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E4A55"/>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5E1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2E4A55"/>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200">
              <a:solidFill>
                <a:srgbClr val="2E4A5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NetPulse is a small C++ and libpcap packet analyser with a live web dashboard. The coloured row shows an IPv6 packet whose Hop-by-Hop header hides the real protocol; decoding that correctly is the heart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real failures I hit in the first version: IPv6 packets reported as Protocol 0, wrong decoding when capturing on the any interface, and a feedback storm because the sniffer's own HTTP posts to port 3000 were captured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three crafted packets through both decoders. The baseline prints HOPOPT or Proto 60 and loses the ports. The proposed decoder walks the extension header chain and prints the real protocol with ports. Measured across 5 runs and 3 load levels: 0 percent versus 100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differences between the baseline and NetPulse. The contribution is an engineered, evaluated combination rather than a new protocol: extension-header-aware decoding, datalink-aware framing, a self-capture guard, bounded blocking and DNS telemetry.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the data path from the network interface to the browser. Bottom row: what happens to each packet inside the C++ program. Step 4 is the extension header walk that fixes the Protocol 0 problem. Step 6 combines the kernel BPF filter and the user-space port check that stop the feedback storm.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is about 1,560 lines of C++ plus a Node.js backend. Be upfront about the environment: the measurements were taken on a single-vCPU Ubuntu host over the loopback interface, so absolute throughput is specific to that host; the baseline-versus-proposed comparison is what matters. The experiment scripts are provided so the runs can be repeated on the Kali 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by metric. M1: 0 versus 100 percent everywhere. M2: the baseline storm amplifies traffic 36.8 times at 50 packets per second; the proposed build streams exactly what is offered. At 10,000 packets per second both builds hit the same processing ceiling, so M2 ties at 0.20; the difference shows up in M5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storm fills the kernel buffer, so the baseline loses roughly 87 to 92 percent of frames in every scenario and analyses only 3 to 14 percent of the offered IPv6 traffic. The proposed build loses nothing at 50 and 1,000 packets per second. At 10,000 packets per second it analyses about 6.5 times as much traffic as the baseline, even though both are saturated.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about limits: the 1,800 packets per second ceiling comes from opening one TCP connection per packet on a single CPU, and non-first IPv6 fragments are misread because the code does not check the fragment offset. Both were measured, not just suspected.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result: the three defects are fixed, measured against a baseline with repeated runs. Mention the first future step, a persistent connection or batching, because it addresses the measured throughput ceiling.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8046720" cy="1920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457200" y="4773168"/>
            <a:ext cx="6400800" cy="256032"/>
          </a:xfrm>
          <a:prstGeom prst="rect">
            <a:avLst/>
          </a:prstGeom>
          <a:noFill/>
          <a:ln/>
        </p:spPr>
        <p:txBody>
          <a:bodyPr wrap="square" lIns="0" tIns="0" rIns="0" bIns="0" rtlCol="0" anchor="ctr"/>
          <a:lstStyle/>
          <a:p>
            <a:pPr indent="0" marL="0">
              <a:buNone/>
            </a:pPr>
            <a:r>
              <a:rPr lang="en-US" sz="1000" dirty="0">
                <a:solidFill>
                  <a:schemeClr val="accent4"/>
                </a:solidFill>
              </a:rPr>
              <a:t>NetPulse  |  BCSE308P Computer Networks Lab  |  Aditya Pratap (24BKT0132)</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457200" y="4773168"/>
            <a:ext cx="6400800" cy="256032"/>
          </a:xfrm>
          <a:prstGeom prst="rect">
            <a:avLst/>
          </a:prstGeom>
          <a:noFill/>
          <a:ln/>
        </p:spPr>
        <p:txBody>
          <a:bodyPr wrap="square" lIns="0" tIns="0" rIns="0" bIns="0" rtlCol="0" anchor="ctr"/>
          <a:lstStyle/>
          <a:p>
            <a:pPr indent="0" marL="0">
              <a:buNone/>
            </a:pPr>
            <a:r>
              <a:rPr lang="en-US" sz="1000" dirty="0">
                <a:solidFill>
                  <a:schemeClr val="accent6"/>
                </a:solidFill>
              </a:rPr>
              <a:t>NetPulse  |  BCSE308P Computer Networks Lab  |  Aditya Pratap (24BKT0132)</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457200"/>
            <a:ext cx="8046720" cy="320040"/>
          </a:xfrm>
          <a:prstGeom prst="rect">
            <a:avLst/>
          </a:prstGeom>
          <a:noFill/>
          <a:ln/>
        </p:spPr>
        <p:txBody>
          <a:bodyPr wrap="square" lIns="0" tIns="0" rIns="0" bIns="0" rtlCol="0" anchor="ctr"/>
          <a:lstStyle/>
          <a:p>
            <a:pPr indent="0" marL="0">
              <a:buNone/>
            </a:pPr>
            <a:r>
              <a:rPr lang="en-US" sz="1400" dirty="0">
                <a:solidFill>
                  <a:schemeClr val="accent6"/>
                </a:solidFill>
              </a:rPr>
              <a:t>BCSE308P  |  Computer Networks Lab  |  Fall Semester 2026-27</a:t>
            </a:r>
            <a:endParaRPr lang="en-US" sz="1400" dirty="0"/>
          </a:p>
        </p:txBody>
      </p:sp>
      <p:sp>
        <p:nvSpPr>
          <p:cNvPr id="3" name="Text 0"/>
          <p:cNvSpPr/>
          <p:nvPr>
            <p:ph idx="100" type="title" hasCustomPrompt="1"/>
          </p:nvPr>
        </p:nvSpPr>
        <p:spPr>
          <a:xfrm>
            <a:off x="548640" y="914400"/>
            <a:ext cx="8046720" cy="1920240"/>
          </a:xfrm>
          <a:prstGeom prst="rect">
            <a:avLst/>
          </a:prstGeom>
          <a:noFill/>
          <a:ln/>
        </p:spPr>
        <p:txBody>
          <a:bodyPr wrap="square" lIns="0" tIns="0" rIns="0" bIns="0" rtlCol="0" anchor="t"/>
          <a:lstStyle/>
          <a:p>
            <a:pPr algn="l" indent="0" marL="0">
              <a:buNone/>
            </a:pPr>
            <a:r>
              <a:rPr lang="en-US" sz="3600" b="1" dirty="0">
                <a:solidFill>
                  <a:schemeClr val="bg1"/>
                </a:solidFill>
              </a:rPr>
              <a:t>NetPulse: Real-Time Network Packet Capture, Protocol Decoding and Live Streaming Dashboard</a:t>
            </a:r>
            <a:endParaRPr lang="en-US" sz="3600" dirty="0"/>
          </a:p>
        </p:txBody>
      </p:sp>
      <p:sp>
        <p:nvSpPr>
          <p:cNvPr id="4" name="Text 2"/>
          <p:cNvSpPr txBox="1"/>
          <p:nvPr/>
        </p:nvSpPr>
        <p:spPr>
          <a:xfrm>
            <a:off x="548640" y="2926080"/>
            <a:ext cx="8046720" cy="365760"/>
          </a:xfrm>
          <a:prstGeom prst="rect">
            <a:avLst/>
          </a:prstGeom>
          <a:noFill/>
          <a:ln/>
        </p:spPr>
        <p:txBody>
          <a:bodyPr wrap="square" lIns="0" tIns="0" rIns="0" bIns="0" rtlCol="0" anchor="ctr"/>
          <a:lstStyle/>
          <a:p>
            <a:pPr indent="0" marL="0">
              <a:buNone/>
            </a:pPr>
            <a:r>
              <a:rPr lang="en-US" sz="2000" b="1" dirty="0">
                <a:solidFill>
                  <a:schemeClr val="bg1"/>
                </a:solidFill>
              </a:rPr>
              <a:t>Aditya Pratap (24BKT0132)</a:t>
            </a:r>
            <a:endParaRPr lang="en-US" sz="2000" dirty="0"/>
          </a:p>
        </p:txBody>
      </p:sp>
      <p:sp>
        <p:nvSpPr>
          <p:cNvPr id="5" name="Text 3"/>
          <p:cNvSpPr txBox="1"/>
          <p:nvPr/>
        </p:nvSpPr>
        <p:spPr>
          <a:xfrm>
            <a:off x="548640" y="3337560"/>
            <a:ext cx="8046720" cy="320040"/>
          </a:xfrm>
          <a:prstGeom prst="rect">
            <a:avLst/>
          </a:prstGeom>
          <a:noFill/>
          <a:ln/>
        </p:spPr>
        <p:txBody>
          <a:bodyPr wrap="square" lIns="0" tIns="0" rIns="0" bIns="0" rtlCol="0" anchor="ctr"/>
          <a:lstStyle/>
          <a:p>
            <a:pPr indent="0" marL="0">
              <a:buNone/>
            </a:pPr>
            <a:r>
              <a:rPr lang="en-US" sz="1400" dirty="0">
                <a:solidFill>
                  <a:schemeClr val="accent6"/>
                </a:solidFill>
              </a:rPr>
              <a:t>B.Tech CSE (Blockchain Technology)  |  School of Computer Science and Engineering, VIT  |  October 2026</a:t>
            </a:r>
            <a:endParaRPr lang="en-US" sz="1400" dirty="0"/>
          </a:p>
        </p:txBody>
      </p:sp>
      <p:sp>
        <p:nvSpPr>
          <p:cNvPr id="6" name="Packet segment Ethernet"/>
          <p:cNvSpPr/>
          <p:nvPr/>
        </p:nvSpPr>
        <p:spPr>
          <a:xfrm>
            <a:off x="548640" y="3977640"/>
            <a:ext cx="1371600" cy="457200"/>
          </a:xfrm>
          <a:prstGeom prst="roundRect">
            <a:avLst>
              <a:gd name="adj" fmla="val 16000"/>
            </a:avLst>
          </a:prstGeom>
          <a:solidFill>
            <a:schemeClr val="accent5"/>
          </a:solidFill>
          <a:ln w="12700">
            <a:solidFill>
              <a:schemeClr val="accent5"/>
            </a:solidFill>
            <a:prstDash val="solid"/>
          </a:ln>
        </p:spPr>
      </p:sp>
      <p:sp>
        <p:nvSpPr>
          <p:cNvPr id="7" name="Text 5"/>
          <p:cNvSpPr txBox="1"/>
          <p:nvPr/>
        </p:nvSpPr>
        <p:spPr>
          <a:xfrm>
            <a:off x="548640" y="3977640"/>
            <a:ext cx="1371600" cy="457200"/>
          </a:xfrm>
          <a:prstGeom prst="rect">
            <a:avLst/>
          </a:prstGeom>
          <a:noFill/>
          <a:ln/>
        </p:spPr>
        <p:txBody>
          <a:bodyPr wrap="square" lIns="0" tIns="0" rIns="0" bIns="0" rtlCol="0" anchor="ctr"/>
          <a:lstStyle/>
          <a:p>
            <a:pPr algn="ctr" indent="0" marL="0">
              <a:buNone/>
            </a:pPr>
            <a:r>
              <a:rPr lang="en-US" sz="1400" b="1" dirty="0">
                <a:solidFill>
                  <a:schemeClr val="bg1"/>
                </a:solidFill>
              </a:rPr>
              <a:t>Ethernet</a:t>
            </a:r>
            <a:endParaRPr lang="en-US" sz="1400" dirty="0"/>
          </a:p>
        </p:txBody>
      </p:sp>
      <p:sp>
        <p:nvSpPr>
          <p:cNvPr id="8" name="Packet segment IPv6"/>
          <p:cNvSpPr/>
          <p:nvPr/>
        </p:nvSpPr>
        <p:spPr>
          <a:xfrm>
            <a:off x="2029968" y="3977640"/>
            <a:ext cx="1188720" cy="457200"/>
          </a:xfrm>
          <a:prstGeom prst="roundRect">
            <a:avLst>
              <a:gd name="adj" fmla="val 16000"/>
            </a:avLst>
          </a:prstGeom>
          <a:solidFill>
            <a:schemeClr val="accent4"/>
          </a:solidFill>
          <a:ln w="12700">
            <a:solidFill>
              <a:schemeClr val="accent4"/>
            </a:solidFill>
            <a:prstDash val="solid"/>
          </a:ln>
        </p:spPr>
      </p:sp>
      <p:sp>
        <p:nvSpPr>
          <p:cNvPr id="9" name="Text 7"/>
          <p:cNvSpPr txBox="1"/>
          <p:nvPr/>
        </p:nvSpPr>
        <p:spPr>
          <a:xfrm>
            <a:off x="2029968" y="3977640"/>
            <a:ext cx="1188720" cy="457200"/>
          </a:xfrm>
          <a:prstGeom prst="rect">
            <a:avLst/>
          </a:prstGeom>
          <a:noFill/>
          <a:ln/>
        </p:spPr>
        <p:txBody>
          <a:bodyPr wrap="square" lIns="0" tIns="0" rIns="0" bIns="0" rtlCol="0" anchor="ctr"/>
          <a:lstStyle/>
          <a:p>
            <a:pPr algn="ctr" indent="0" marL="0">
              <a:buNone/>
            </a:pPr>
            <a:r>
              <a:rPr lang="en-US" sz="1400" b="1" dirty="0">
                <a:solidFill>
                  <a:schemeClr val="bg1"/>
                </a:solidFill>
              </a:rPr>
              <a:t>IPv6</a:t>
            </a:r>
            <a:endParaRPr lang="en-US" sz="1400" dirty="0"/>
          </a:p>
        </p:txBody>
      </p:sp>
      <p:sp>
        <p:nvSpPr>
          <p:cNvPr id="10" name="Packet segment Hop-by-Hop"/>
          <p:cNvSpPr/>
          <p:nvPr/>
        </p:nvSpPr>
        <p:spPr>
          <a:xfrm>
            <a:off x="3328416" y="3977640"/>
            <a:ext cx="1737360" cy="457200"/>
          </a:xfrm>
          <a:prstGeom prst="roundRect">
            <a:avLst>
              <a:gd name="adj" fmla="val 16000"/>
            </a:avLst>
          </a:prstGeom>
          <a:solidFill>
            <a:schemeClr val="accent2"/>
          </a:solidFill>
          <a:ln w="12700">
            <a:solidFill>
              <a:schemeClr val="accent2"/>
            </a:solidFill>
            <a:prstDash val="solid"/>
          </a:ln>
        </p:spPr>
      </p:sp>
      <p:sp>
        <p:nvSpPr>
          <p:cNvPr id="11" name="Text 9"/>
          <p:cNvSpPr txBox="1"/>
          <p:nvPr/>
        </p:nvSpPr>
        <p:spPr>
          <a:xfrm>
            <a:off x="3328416" y="3977640"/>
            <a:ext cx="1737360" cy="457200"/>
          </a:xfrm>
          <a:prstGeom prst="rect">
            <a:avLst/>
          </a:prstGeom>
          <a:noFill/>
          <a:ln/>
        </p:spPr>
        <p:txBody>
          <a:bodyPr wrap="square" lIns="0" tIns="0" rIns="0" bIns="0" rtlCol="0" anchor="ctr"/>
          <a:lstStyle/>
          <a:p>
            <a:pPr algn="ctr" indent="0" marL="0">
              <a:buNone/>
            </a:pPr>
            <a:r>
              <a:rPr lang="en-US" sz="1400" b="1" dirty="0">
                <a:solidFill>
                  <a:schemeClr val="tx1"/>
                </a:solidFill>
              </a:rPr>
              <a:t>Hop-by-Hop</a:t>
            </a:r>
            <a:endParaRPr lang="en-US" sz="1400" dirty="0"/>
          </a:p>
        </p:txBody>
      </p:sp>
      <p:sp>
        <p:nvSpPr>
          <p:cNvPr id="12" name="Packet segment ICMPv6 (MLD)"/>
          <p:cNvSpPr/>
          <p:nvPr/>
        </p:nvSpPr>
        <p:spPr>
          <a:xfrm>
            <a:off x="5175504" y="3977640"/>
            <a:ext cx="1828800" cy="457200"/>
          </a:xfrm>
          <a:prstGeom prst="roundRect">
            <a:avLst>
              <a:gd name="adj" fmla="val 16000"/>
            </a:avLst>
          </a:prstGeom>
          <a:solidFill>
            <a:schemeClr val="accent1"/>
          </a:solidFill>
          <a:ln w="12700">
            <a:solidFill>
              <a:schemeClr val="accent1"/>
            </a:solidFill>
            <a:prstDash val="solid"/>
          </a:ln>
        </p:spPr>
      </p:sp>
      <p:sp>
        <p:nvSpPr>
          <p:cNvPr id="13" name="Text 11"/>
          <p:cNvSpPr txBox="1"/>
          <p:nvPr/>
        </p:nvSpPr>
        <p:spPr>
          <a:xfrm>
            <a:off x="5175504" y="3977640"/>
            <a:ext cx="1828800" cy="457200"/>
          </a:xfrm>
          <a:prstGeom prst="rect">
            <a:avLst/>
          </a:prstGeom>
          <a:noFill/>
          <a:ln/>
        </p:spPr>
        <p:txBody>
          <a:bodyPr wrap="square" lIns="0" tIns="0" rIns="0" bIns="0" rtlCol="0" anchor="ctr"/>
          <a:lstStyle/>
          <a:p>
            <a:pPr algn="ctr" indent="0" marL="0">
              <a:buNone/>
            </a:pPr>
            <a:r>
              <a:rPr lang="en-US" sz="1400" b="1" dirty="0">
                <a:solidFill>
                  <a:schemeClr val="bg1"/>
                </a:solidFill>
              </a:rPr>
              <a:t>ICMPv6 (MLD)</a:t>
            </a:r>
            <a:endParaRPr lang="en-US" sz="1400" dirty="0"/>
          </a:p>
        </p:txBody>
      </p:sp>
      <p:sp>
        <p:nvSpPr>
          <p:cNvPr id="14" name="Text 12"/>
          <p:cNvSpPr txBox="1"/>
          <p:nvPr/>
        </p:nvSpPr>
        <p:spPr>
          <a:xfrm>
            <a:off x="548640" y="4526280"/>
            <a:ext cx="5486400" cy="274320"/>
          </a:xfrm>
          <a:prstGeom prst="rect">
            <a:avLst/>
          </a:prstGeom>
          <a:noFill/>
          <a:ln/>
        </p:spPr>
        <p:txBody>
          <a:bodyPr wrap="square" lIns="0" tIns="0" rIns="0" bIns="0" rtlCol="0" anchor="ctr"/>
          <a:lstStyle/>
          <a:p>
            <a:pPr indent="0" marL="0">
              <a:buNone/>
            </a:pPr>
            <a:r>
              <a:rPr lang="en-US" sz="1200" i="1" dirty="0">
                <a:solidFill>
                  <a:schemeClr val="accent6"/>
                </a:solidFill>
              </a:rPr>
              <a:t>One IPv6 packet, decoded layer by layer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Why simple sniffers fail</a:t>
            </a:r>
            <a:endParaRPr lang="en-US" sz="3600" dirty="0"/>
          </a:p>
        </p:txBody>
      </p:sp>
      <p:sp>
        <p:nvSpPr>
          <p:cNvPr id="3" name="Text 1"/>
          <p:cNvSpPr txBox="1"/>
          <p:nvPr/>
        </p:nvSpPr>
        <p:spPr>
          <a:xfrm>
            <a:off x="457200" y="1097280"/>
            <a:ext cx="8229600" cy="502920"/>
          </a:xfrm>
          <a:prstGeom prst="rect">
            <a:avLst/>
          </a:prstGeom>
          <a:noFill/>
          <a:ln/>
        </p:spPr>
        <p:txBody>
          <a:bodyPr wrap="square" lIns="0" tIns="0" rIns="0" bIns="0" rtlCol="0" anchor="ctr"/>
          <a:lstStyle/>
          <a:p>
            <a:pPr indent="0" marL="0">
              <a:buNone/>
            </a:pPr>
            <a:r>
              <a:rPr lang="en-US" sz="1600" dirty="0">
                <a:solidFill>
                  <a:schemeClr val="accent5"/>
                </a:solidFill>
              </a:rPr>
              <a:t>Packet capture underpins troubleshooting, monitoring and security. A baseline libpcap sniffer breaks in three ways.</a:t>
            </a:r>
            <a:endParaRPr lang="en-US" sz="1600" dirty="0"/>
          </a:p>
        </p:txBody>
      </p:sp>
      <p:sp>
        <p:nvSpPr>
          <p:cNvPr id="4" name="Card 1"/>
          <p:cNvSpPr/>
          <p:nvPr/>
        </p:nvSpPr>
        <p:spPr>
          <a:xfrm>
            <a:off x="457200" y="1783080"/>
            <a:ext cx="2560320" cy="278892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Icon circle"/>
          <p:cNvSpPr/>
          <p:nvPr/>
        </p:nvSpPr>
        <p:spPr>
          <a:xfrm>
            <a:off x="685800" y="2011680"/>
            <a:ext cx="566928" cy="566928"/>
          </a:xfrm>
          <a:prstGeom prst="ellipse">
            <a:avLst/>
          </a:prstGeom>
          <a:solidFill>
            <a:schemeClr val="accent3"/>
          </a:solidFill>
          <a:ln w="12700">
            <a:solidFill>
              <a:schemeClr val="accent3"/>
            </a:solidFill>
            <a:prstDash val="solid"/>
          </a:ln>
        </p:spPr>
      </p:sp>
      <p:pic>
        <p:nvPicPr>
          <p:cNvPr id="6" name="Image 0" descr="icon">    </p:cNvPr>
          <p:cNvPicPr>
            <a:picLocks noChangeAspect="1"/>
          </p:cNvPicPr>
          <p:nvPr/>
        </p:nvPicPr>
        <p:blipFill>
          <a:blip r:embed="rId1"/>
          <a:stretch>
            <a:fillRect/>
          </a:stretch>
        </p:blipFill>
        <p:spPr>
          <a:xfrm>
            <a:off x="827532" y="2153412"/>
            <a:ext cx="283464" cy="283464"/>
          </a:xfrm>
          <a:prstGeom prst="rect">
            <a:avLst/>
          </a:prstGeom>
        </p:spPr>
      </p:pic>
      <p:sp>
        <p:nvSpPr>
          <p:cNvPr id="7" name="Text 4"/>
          <p:cNvSpPr txBox="1"/>
          <p:nvPr/>
        </p:nvSpPr>
        <p:spPr>
          <a:xfrm>
            <a:off x="685800" y="2724912"/>
            <a:ext cx="2148840" cy="640080"/>
          </a:xfrm>
          <a:prstGeom prst="rect">
            <a:avLst/>
          </a:prstGeom>
          <a:noFill/>
          <a:ln/>
        </p:spPr>
        <p:txBody>
          <a:bodyPr wrap="square" lIns="0" tIns="0" rIns="0" bIns="0" rtlCol="0" anchor="t"/>
          <a:lstStyle/>
          <a:p>
            <a:pPr indent="0" marL="0">
              <a:buNone/>
            </a:pPr>
            <a:r>
              <a:rPr lang="en-US" sz="1800" b="1" dirty="0">
                <a:solidFill>
                  <a:schemeClr val="tx1"/>
                </a:solidFill>
              </a:rPr>
              <a:t>IPv6 shown as “Protocol 0”</a:t>
            </a:r>
            <a:endParaRPr lang="en-US" sz="1800" dirty="0"/>
          </a:p>
        </p:txBody>
      </p:sp>
      <p:sp>
        <p:nvSpPr>
          <p:cNvPr id="8" name="Text 5"/>
          <p:cNvSpPr txBox="1"/>
          <p:nvPr/>
        </p:nvSpPr>
        <p:spPr>
          <a:xfrm>
            <a:off x="685800" y="3383280"/>
            <a:ext cx="2148840" cy="1097280"/>
          </a:xfrm>
          <a:prstGeom prst="rect">
            <a:avLst/>
          </a:prstGeom>
          <a:noFill/>
          <a:ln/>
        </p:spPr>
        <p:txBody>
          <a:bodyPr wrap="square" lIns="0" tIns="0" rIns="0" bIns="0" rtlCol="0" anchor="t"/>
          <a:lstStyle/>
          <a:p>
            <a:pPr indent="0" marL="0">
              <a:buNone/>
            </a:pPr>
            <a:r>
              <a:rPr lang="en-US" sz="1400" dirty="0">
                <a:solidFill>
                  <a:schemeClr val="tx2"/>
                </a:solidFill>
              </a:rPr>
              <a:t>Hop-by-Hop headers (MLD, Router Alert) hide the real protocol, so ICMPv6 type and ports are lost.</a:t>
            </a:r>
            <a:endParaRPr lang="en-US" sz="1400" dirty="0"/>
          </a:p>
        </p:txBody>
      </p:sp>
      <p:sp>
        <p:nvSpPr>
          <p:cNvPr id="9" name="Card 2"/>
          <p:cNvSpPr/>
          <p:nvPr/>
        </p:nvSpPr>
        <p:spPr>
          <a:xfrm>
            <a:off x="3291840" y="1783080"/>
            <a:ext cx="2560320" cy="278892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Icon circle"/>
          <p:cNvSpPr/>
          <p:nvPr/>
        </p:nvSpPr>
        <p:spPr>
          <a:xfrm>
            <a:off x="3520440" y="2011680"/>
            <a:ext cx="566928" cy="566928"/>
          </a:xfrm>
          <a:prstGeom prst="ellipse">
            <a:avLst/>
          </a:prstGeom>
          <a:solidFill>
            <a:schemeClr val="accent5"/>
          </a:solidFill>
          <a:ln w="12700">
            <a:solidFill>
              <a:schemeClr val="accent5"/>
            </a:solidFill>
            <a:prstDash val="solid"/>
          </a:ln>
        </p:spPr>
      </p:sp>
      <p:pic>
        <p:nvPicPr>
          <p:cNvPr id="11" name="Image 1" descr="icon">    </p:cNvPr>
          <p:cNvPicPr>
            <a:picLocks noChangeAspect="1"/>
          </p:cNvPicPr>
          <p:nvPr/>
        </p:nvPicPr>
        <p:blipFill>
          <a:blip r:embed="rId2"/>
          <a:stretch>
            <a:fillRect/>
          </a:stretch>
        </p:blipFill>
        <p:spPr>
          <a:xfrm>
            <a:off x="3662172" y="2153412"/>
            <a:ext cx="283464" cy="283464"/>
          </a:xfrm>
          <a:prstGeom prst="rect">
            <a:avLst/>
          </a:prstGeom>
        </p:spPr>
      </p:pic>
      <p:sp>
        <p:nvSpPr>
          <p:cNvPr id="12" name="Text 8"/>
          <p:cNvSpPr txBox="1"/>
          <p:nvPr/>
        </p:nvSpPr>
        <p:spPr>
          <a:xfrm>
            <a:off x="3520440" y="2724912"/>
            <a:ext cx="2148840" cy="640080"/>
          </a:xfrm>
          <a:prstGeom prst="rect">
            <a:avLst/>
          </a:prstGeom>
          <a:noFill/>
          <a:ln/>
        </p:spPr>
        <p:txBody>
          <a:bodyPr wrap="square" lIns="0" tIns="0" rIns="0" bIns="0" rtlCol="0" anchor="t"/>
          <a:lstStyle/>
          <a:p>
            <a:pPr indent="0" marL="0">
              <a:buNone/>
            </a:pPr>
            <a:r>
              <a:rPr lang="en-US" sz="1800" b="1" dirty="0">
                <a:solidFill>
                  <a:schemeClr val="tx1"/>
                </a:solidFill>
              </a:rPr>
              <a:t>Garbage on the “any” interface</a:t>
            </a:r>
            <a:endParaRPr lang="en-US" sz="1800" dirty="0"/>
          </a:p>
        </p:txBody>
      </p:sp>
      <p:sp>
        <p:nvSpPr>
          <p:cNvPr id="13" name="Text 9"/>
          <p:cNvSpPr txBox="1"/>
          <p:nvPr/>
        </p:nvSpPr>
        <p:spPr>
          <a:xfrm>
            <a:off x="3520440" y="3383280"/>
            <a:ext cx="2148840" cy="1097280"/>
          </a:xfrm>
          <a:prstGeom prst="rect">
            <a:avLst/>
          </a:prstGeom>
          <a:noFill/>
          <a:ln/>
        </p:spPr>
        <p:txBody>
          <a:bodyPr wrap="square" lIns="0" tIns="0" rIns="0" bIns="0" rtlCol="0" anchor="t"/>
          <a:lstStyle/>
          <a:p>
            <a:pPr indent="0" marL="0">
              <a:buNone/>
            </a:pPr>
            <a:r>
              <a:rPr lang="en-US" sz="1400" dirty="0">
                <a:solidFill>
                  <a:schemeClr val="tx2"/>
                </a:solidFill>
              </a:rPr>
              <a:t>Linux cooked frames are read as Ethernet, so every offset is wrong.</a:t>
            </a:r>
            <a:endParaRPr lang="en-US" sz="1400" dirty="0"/>
          </a:p>
        </p:txBody>
      </p:sp>
      <p:sp>
        <p:nvSpPr>
          <p:cNvPr id="14" name="Card 3"/>
          <p:cNvSpPr/>
          <p:nvPr/>
        </p:nvSpPr>
        <p:spPr>
          <a:xfrm>
            <a:off x="6126480" y="1783080"/>
            <a:ext cx="2560320" cy="278892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5" name="Icon circle"/>
          <p:cNvSpPr/>
          <p:nvPr/>
        </p:nvSpPr>
        <p:spPr>
          <a:xfrm>
            <a:off x="6355080" y="2011680"/>
            <a:ext cx="566928" cy="566928"/>
          </a:xfrm>
          <a:prstGeom prst="ellipse">
            <a:avLst/>
          </a:prstGeom>
          <a:solidFill>
            <a:schemeClr val="accent2"/>
          </a:solidFill>
          <a:ln w="12700">
            <a:solidFill>
              <a:schemeClr val="accent2"/>
            </a:solidFill>
            <a:prstDash val="solid"/>
          </a:ln>
        </p:spPr>
      </p:sp>
      <p:pic>
        <p:nvPicPr>
          <p:cNvPr id="16" name="Image 2" descr="icon">    </p:cNvPr>
          <p:cNvPicPr>
            <a:picLocks noChangeAspect="1"/>
          </p:cNvPicPr>
          <p:nvPr/>
        </p:nvPicPr>
        <p:blipFill>
          <a:blip r:embed="rId3"/>
          <a:stretch>
            <a:fillRect/>
          </a:stretch>
        </p:blipFill>
        <p:spPr>
          <a:xfrm>
            <a:off x="6496812" y="2153412"/>
            <a:ext cx="283464" cy="283464"/>
          </a:xfrm>
          <a:prstGeom prst="rect">
            <a:avLst/>
          </a:prstGeom>
        </p:spPr>
      </p:pic>
      <p:sp>
        <p:nvSpPr>
          <p:cNvPr id="17" name="Text 12"/>
          <p:cNvSpPr txBox="1"/>
          <p:nvPr/>
        </p:nvSpPr>
        <p:spPr>
          <a:xfrm>
            <a:off x="6355080" y="2724912"/>
            <a:ext cx="2148840" cy="640080"/>
          </a:xfrm>
          <a:prstGeom prst="rect">
            <a:avLst/>
          </a:prstGeom>
          <a:noFill/>
          <a:ln/>
        </p:spPr>
        <p:txBody>
          <a:bodyPr wrap="square" lIns="0" tIns="0" rIns="0" bIns="0" rtlCol="0" anchor="t"/>
          <a:lstStyle/>
          <a:p>
            <a:pPr indent="0" marL="0">
              <a:buNone/>
            </a:pPr>
            <a:r>
              <a:rPr lang="en-US" sz="1800" b="1" dirty="0">
                <a:solidFill>
                  <a:schemeClr val="tx1"/>
                </a:solidFill>
              </a:rPr>
              <a:t>Self-capture feedback storm</a:t>
            </a:r>
            <a:endParaRPr lang="en-US" sz="1800" dirty="0"/>
          </a:p>
        </p:txBody>
      </p:sp>
      <p:sp>
        <p:nvSpPr>
          <p:cNvPr id="18" name="Text 13"/>
          <p:cNvSpPr txBox="1"/>
          <p:nvPr/>
        </p:nvSpPr>
        <p:spPr>
          <a:xfrm>
            <a:off x="6355080" y="3383280"/>
            <a:ext cx="2148840" cy="1097280"/>
          </a:xfrm>
          <a:prstGeom prst="rect">
            <a:avLst/>
          </a:prstGeom>
          <a:noFill/>
          <a:ln/>
        </p:spPr>
        <p:txBody>
          <a:bodyPr wrap="square" lIns="0" tIns="0" rIns="0" bIns="0" rtlCol="0" anchor="t"/>
          <a:lstStyle/>
          <a:p>
            <a:pPr indent="0" marL="0">
              <a:buNone/>
            </a:pPr>
            <a:r>
              <a:rPr lang="en-US" sz="1400" dirty="0">
                <a:solidFill>
                  <a:schemeClr val="tx2"/>
                </a:solidFill>
              </a:rPr>
              <a:t>POSTs to the backend on port 3000 are captured and posted again, without bound.</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Same packet, two decoders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926080"/>
                <a:gridCol w="1737360"/>
                <a:gridCol w="3566160"/>
              </a:tblGrid>
              <a:tr h="384048">
                <a:tc>
                  <a:txBody>
                    <a:bodyPr/>
                    <a:lstStyle/>
                    <a:p>
                      <a:pPr algn="l" indent="0" marL="0">
                        <a:buNone/>
                      </a:pPr>
                      <a:r>
                        <a:rPr lang="en-US" sz="1400" b="1" dirty="0">
                          <a:solidFill>
                            <a:schemeClr val="bg1"/>
                          </a:solidFill>
                        </a:rPr>
                        <a:t>Packet sent</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5"/>
                    </a:solidFill>
                  </a:tcPr>
                </a:tc>
                <a:tc>
                  <a:txBody>
                    <a:bodyPr/>
                    <a:lstStyle/>
                    <a:p>
                      <a:pPr algn="l" indent="0" marL="0">
                        <a:buNone/>
                      </a:pPr>
                      <a:r>
                        <a:rPr lang="en-US" sz="1400" b="1" dirty="0">
                          <a:solidFill>
                            <a:schemeClr val="bg1"/>
                          </a:solidFill>
                        </a:rPr>
                        <a:t>Baseline prints</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3"/>
                    </a:solidFill>
                  </a:tcPr>
                </a:tc>
                <a:tc>
                  <a:txBody>
                    <a:bodyPr/>
                    <a:lstStyle/>
                    <a:p>
                      <a:pPr algn="l" indent="0" marL="0">
                        <a:buNone/>
                      </a:pPr>
                      <a:r>
                        <a:rPr lang="en-US" sz="1400" b="1" dirty="0">
                          <a:solidFill>
                            <a:schemeClr val="bg1"/>
                          </a:solidFill>
                        </a:rPr>
                        <a:t>Proposed prints</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r>
              <a:tr h="457200">
                <a:tc>
                  <a:txBody>
                    <a:bodyPr/>
                    <a:lstStyle/>
                    <a:p>
                      <a:pPr indent="0" marL="0">
                        <a:buNone/>
                      </a:pPr>
                      <a:r>
                        <a:rPr lang="en-US" sz="1400" dirty="0">
                          <a:solidFill>
                            <a:schemeClr val="tx1"/>
                          </a:solidFill>
                        </a:rPr>
                        <a:t>Hop-by-Hop + MLDv2 report</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b="1" dirty="0">
                          <a:solidFill>
                            <a:schemeClr val="accent3"/>
                          </a:solidFill>
                        </a:rPr>
                        <a:t>HOPOPT</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b="1" dirty="0">
                          <a:solidFill>
                            <a:schemeClr val="accent1"/>
                          </a:solidFill>
                        </a:rPr>
                        <a:t>ICMPv6 (MLDv2 Report)</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457200">
                <a:tc>
                  <a:txBody>
                    <a:bodyPr/>
                    <a:lstStyle/>
                    <a:p>
                      <a:pPr indent="0" marL="0">
                        <a:buNone/>
                      </a:pPr>
                      <a:r>
                        <a:rPr lang="en-US" sz="1400" dirty="0">
                          <a:solidFill>
                            <a:schemeClr val="tx1"/>
                          </a:solidFill>
                        </a:rPr>
                        <a:t>Hop-by-Hop + TCP SYN to port 80</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b="1" dirty="0">
                          <a:solidFill>
                            <a:schemeClr val="accent3"/>
                          </a:solidFill>
                        </a:rPr>
                        <a:t>HOPOPT</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b="1" dirty="0">
                          <a:solidFill>
                            <a:schemeClr val="accent1"/>
                          </a:solidFill>
                        </a:rPr>
                        <a:t>TCP (HTTP)  fd00::6:40001 → ::1:80</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457200">
                <a:tc>
                  <a:txBody>
                    <a:bodyPr/>
                    <a:lstStyle/>
                    <a:p>
                      <a:pPr indent="0" marL="0">
                        <a:buNone/>
                      </a:pPr>
                      <a:r>
                        <a:rPr lang="en-US" sz="1400" dirty="0">
                          <a:solidFill>
                            <a:schemeClr val="tx1"/>
                          </a:solidFill>
                        </a:rPr>
                        <a:t>Destination Options + UDP to port 53</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b="1" dirty="0">
                          <a:solidFill>
                            <a:schemeClr val="accent3"/>
                          </a:solidFill>
                        </a:rPr>
                        <a:t>Proto 60</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b="1" dirty="0">
                          <a:solidFill>
                            <a:schemeClr val="accent1"/>
                          </a:solidFill>
                        </a:rPr>
                        <a:t>UDP (DNS)  fd00::7:40002 → ::1:53</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bl>
          </a:graphicData>
        </a:graphic>
      </p:graphicFrame>
      <p:sp>
        <p:nvSpPr>
          <p:cNvPr id="4" name="Baseline stat card"/>
          <p:cNvSpPr/>
          <p:nvPr/>
        </p:nvSpPr>
        <p:spPr>
          <a:xfrm>
            <a:off x="457200" y="3291840"/>
            <a:ext cx="3977640" cy="132588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685800" y="3383280"/>
            <a:ext cx="1828800" cy="1143000"/>
          </a:xfrm>
          <a:prstGeom prst="rect">
            <a:avLst/>
          </a:prstGeom>
          <a:noFill/>
          <a:ln/>
        </p:spPr>
        <p:txBody>
          <a:bodyPr wrap="square" lIns="0" tIns="0" rIns="0" bIns="0" rtlCol="0" anchor="ctr"/>
          <a:lstStyle/>
          <a:p>
            <a:pPr indent="0" marL="0">
              <a:buNone/>
            </a:pPr>
            <a:r>
              <a:rPr lang="en-US" sz="4400" b="1" dirty="0">
                <a:solidFill>
                  <a:schemeClr val="accent3"/>
                </a:solidFill>
                <a:latin typeface="Cambria" pitchFamily="34" charset="0"/>
                <a:ea typeface="Cambria" pitchFamily="34" charset="-122"/>
                <a:cs typeface="Cambria" pitchFamily="34" charset="-120"/>
              </a:rPr>
              <a:t>0 %</a:t>
            </a:r>
            <a:endParaRPr lang="en-US" sz="4400" dirty="0"/>
          </a:p>
        </p:txBody>
      </p:sp>
      <p:sp>
        <p:nvSpPr>
          <p:cNvPr id="6" name="Text 3"/>
          <p:cNvSpPr txBox="1"/>
          <p:nvPr/>
        </p:nvSpPr>
        <p:spPr>
          <a:xfrm>
            <a:off x="2606040" y="3383280"/>
            <a:ext cx="1691640" cy="1143000"/>
          </a:xfrm>
          <a:prstGeom prst="rect">
            <a:avLst/>
          </a:prstGeom>
          <a:noFill/>
          <a:ln/>
        </p:spPr>
        <p:txBody>
          <a:bodyPr wrap="square" lIns="0" tIns="0" rIns="0" bIns="0" rtlCol="0" anchor="ctr"/>
          <a:lstStyle/>
          <a:p>
            <a:pPr indent="0" marL="0">
              <a:buNone/>
            </a:pPr>
            <a:r>
              <a:rPr lang="en-US" sz="1400" dirty="0">
                <a:solidFill>
                  <a:schemeClr val="tx2"/>
                </a:solidFill>
              </a:rPr>
              <a:t>Baseline: extension-header packets identified correctly, in every run at every load</a:t>
            </a:r>
            <a:endParaRPr lang="en-US" sz="1400" dirty="0"/>
          </a:p>
        </p:txBody>
      </p:sp>
      <p:sp>
        <p:nvSpPr>
          <p:cNvPr id="7" name="Proposed stat card"/>
          <p:cNvSpPr/>
          <p:nvPr/>
        </p:nvSpPr>
        <p:spPr>
          <a:xfrm>
            <a:off x="4709160" y="3291840"/>
            <a:ext cx="3977640" cy="132588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4937760" y="3383280"/>
            <a:ext cx="1828800" cy="114300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100 %</a:t>
            </a:r>
            <a:endParaRPr lang="en-US" sz="4400" dirty="0"/>
          </a:p>
        </p:txBody>
      </p:sp>
      <p:sp>
        <p:nvSpPr>
          <p:cNvPr id="9" name="Text 6"/>
          <p:cNvSpPr txBox="1"/>
          <p:nvPr/>
        </p:nvSpPr>
        <p:spPr>
          <a:xfrm>
            <a:off x="6858000" y="3383280"/>
            <a:ext cx="1691640" cy="1143000"/>
          </a:xfrm>
          <a:prstGeom prst="rect">
            <a:avLst/>
          </a:prstGeom>
          <a:noFill/>
          <a:ln/>
        </p:spPr>
        <p:txBody>
          <a:bodyPr wrap="square" lIns="0" tIns="0" rIns="0" bIns="0" rtlCol="0" anchor="ctr"/>
          <a:lstStyle/>
          <a:p>
            <a:pPr indent="0" marL="0">
              <a:buNone/>
            </a:pPr>
            <a:r>
              <a:rPr lang="en-US" sz="1400" dirty="0">
                <a:solidFill>
                  <a:schemeClr val="tx2"/>
                </a:solidFill>
              </a:rPr>
              <a:t>Proposed: extension-header packets identified correctly, in every run at every load</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Proposed novelty</a:t>
            </a:r>
            <a:endParaRPr lang="en-US" sz="3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920240"/>
                <a:gridCol w="2377440"/>
                <a:gridCol w="3931920"/>
              </a:tblGrid>
              <a:tr h="411480">
                <a:tc>
                  <a:txBody>
                    <a:bodyPr/>
                    <a:lstStyle/>
                    <a:p>
                      <a:pPr algn="l" indent="0" marL="0">
                        <a:buNone/>
                      </a:pPr>
                      <a:r>
                        <a:rPr lang="en-US" sz="1400" b="1" dirty="0">
                          <a:solidFill>
                            <a:schemeClr val="bg1"/>
                          </a:solidFill>
                        </a:rPr>
                        <a:t>Aspect</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5"/>
                    </a:solidFill>
                  </a:tcPr>
                </a:tc>
                <a:tc>
                  <a:txBody>
                    <a:bodyPr/>
                    <a:lstStyle/>
                    <a:p>
                      <a:pPr algn="l" indent="0" marL="0">
                        <a:buNone/>
                      </a:pPr>
                      <a:r>
                        <a:rPr lang="en-US" sz="1400" b="1" dirty="0">
                          <a:solidFill>
                            <a:schemeClr val="bg1"/>
                          </a:solidFill>
                        </a:rPr>
                        <a:t>Baseline</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3"/>
                    </a:solidFill>
                  </a:tcPr>
                </a:tc>
                <a:tc>
                  <a:txBody>
                    <a:bodyPr/>
                    <a:lstStyle/>
                    <a:p>
                      <a:pPr algn="l" indent="0" marL="0">
                        <a:buNone/>
                      </a:pPr>
                      <a:r>
                        <a:rPr lang="en-US" sz="1400" b="1" dirty="0">
                          <a:solidFill>
                            <a:schemeClr val="bg1"/>
                          </a:solidFill>
                        </a:rPr>
                        <a:t>Proposed</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r>
              <a:tr h="566928">
                <a:tc>
                  <a:txBody>
                    <a:bodyPr/>
                    <a:lstStyle/>
                    <a:p>
                      <a:pPr indent="0" marL="0">
                        <a:buNone/>
                      </a:pPr>
                      <a:r>
                        <a:rPr lang="en-US" sz="1400" b="1" dirty="0">
                          <a:solidFill>
                            <a:schemeClr val="tx1"/>
                          </a:solidFill>
                        </a:rPr>
                        <a:t>IPv6 upper layer</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1"/>
                          </a:solidFill>
                        </a:rPr>
                        <a:t>Reads ip6_nxt only</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1"/>
                          </a:solidFill>
                        </a:rPr>
                        <a:t>Walks 6 extension header types to the real protocol</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566928">
                <a:tc>
                  <a:txBody>
                    <a:bodyPr/>
                    <a:lstStyle/>
                    <a:p>
                      <a:pPr indent="0" marL="0">
                        <a:buNone/>
                      </a:pPr>
                      <a:r>
                        <a:rPr lang="en-US" sz="1400" b="1" dirty="0">
                          <a:solidFill>
                            <a:schemeClr val="tx1"/>
                          </a:solidFill>
                        </a:rPr>
                        <a:t>Link layer</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1"/>
                          </a:solidFill>
                        </a:rPr>
                        <a:t>Ethernet only</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1"/>
                          </a:solidFill>
                        </a:rPr>
                        <a:t>Ethernet + 802.1Q, Linux cooked v1/v2, loopback</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566928">
                <a:tc>
                  <a:txBody>
                    <a:bodyPr/>
                    <a:lstStyle/>
                    <a:p>
                      <a:pPr indent="0" marL="0">
                        <a:buNone/>
                      </a:pPr>
                      <a:r>
                        <a:rPr lang="en-US" sz="1400" b="1" dirty="0">
                          <a:solidFill>
                            <a:schemeClr val="tx1"/>
                          </a:solidFill>
                        </a:rPr>
                        <a:t>Self-capture</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1"/>
                          </a:solidFill>
                        </a:rPr>
                        <a:t>None</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1"/>
                          </a:solidFill>
                        </a:rPr>
                        <a:t>BPF “not (tcp port 3000)” + user-space port check</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566928">
                <a:tc>
                  <a:txBody>
                    <a:bodyPr/>
                    <a:lstStyle/>
                    <a:p>
                      <a:pPr indent="0" marL="0">
                        <a:buNone/>
                      </a:pPr>
                      <a:r>
                        <a:rPr lang="en-US" sz="1400" b="1" dirty="0">
                          <a:solidFill>
                            <a:schemeClr val="tx1"/>
                          </a:solidFill>
                        </a:rPr>
                        <a:t>Blocking</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1"/>
                          </a:solidFill>
                        </a:rPr>
                        <a:t>Unbounded sends</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1"/>
                          </a:solidFill>
                        </a:rPr>
                        <a:t>250 ms socket timeouts</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566928">
                <a:tc>
                  <a:txBody>
                    <a:bodyPr/>
                    <a:lstStyle/>
                    <a:p>
                      <a:pPr indent="0" marL="0">
                        <a:buNone/>
                      </a:pPr>
                      <a:r>
                        <a:rPr lang="en-US" sz="1400" b="1" dirty="0">
                          <a:solidFill>
                            <a:schemeClr val="tx1"/>
                          </a:solidFill>
                        </a:rPr>
                        <a:t>DNS visibility</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1"/>
                          </a:solidFill>
                        </a:rPr>
                        <a:t>None</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1"/>
                          </a:solidFill>
                        </a:rPr>
                        <a:t>UDP forwarder reports each query</a:t>
                      </a:r>
                      <a:endParaRPr lang="en-US" sz="1400" dirty="0"/>
                    </a:p>
                  </a:txBody>
                  <a:tcPr marL="109728" marR="109728"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Architecture and pipeline</a:t>
            </a:r>
            <a:endParaRPr lang="en-US" sz="3600" dirty="0"/>
          </a:p>
        </p:txBody>
      </p:sp>
      <p:sp>
        <p:nvSpPr>
          <p:cNvPr id="3" name="Tier Network interface"/>
          <p:cNvSpPr/>
          <p:nvPr/>
        </p:nvSpPr>
        <p:spPr>
          <a:xfrm>
            <a:off x="457200" y="1188720"/>
            <a:ext cx="1508760" cy="1188720"/>
          </a:xfrm>
          <a:prstGeom prst="rect">
            <a:avLst/>
          </a:prstGeom>
          <a:solidFill>
            <a:schemeClr val="accent4"/>
          </a:solidFill>
          <a:ln w="12700">
            <a:solidFill>
              <a:schemeClr val="accent4"/>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530352" y="1243584"/>
            <a:ext cx="1362456" cy="457200"/>
          </a:xfrm>
          <a:prstGeom prst="rect">
            <a:avLst/>
          </a:prstGeom>
          <a:noFill/>
          <a:ln/>
        </p:spPr>
        <p:txBody>
          <a:bodyPr wrap="square" lIns="0" tIns="0" rIns="0" bIns="0" rtlCol="0" anchor="ctr"/>
          <a:lstStyle/>
          <a:p>
            <a:pPr algn="ctr" indent="0" marL="0">
              <a:buNone/>
            </a:pPr>
            <a:r>
              <a:rPr lang="en-US" sz="1400" b="1" dirty="0">
                <a:solidFill>
                  <a:schemeClr val="bg1"/>
                </a:solidFill>
              </a:rPr>
              <a:t>Network interface</a:t>
            </a:r>
            <a:endParaRPr lang="en-US" sz="1400" dirty="0"/>
          </a:p>
        </p:txBody>
      </p:sp>
      <p:sp>
        <p:nvSpPr>
          <p:cNvPr id="5" name="Text 3"/>
          <p:cNvSpPr txBox="1"/>
          <p:nvPr/>
        </p:nvSpPr>
        <p:spPr>
          <a:xfrm>
            <a:off x="530352" y="1719072"/>
            <a:ext cx="1362456" cy="594360"/>
          </a:xfrm>
          <a:prstGeom prst="rect">
            <a:avLst/>
          </a:prstGeom>
          <a:noFill/>
          <a:ln/>
        </p:spPr>
        <p:txBody>
          <a:bodyPr wrap="square" lIns="0" tIns="0" rIns="0" bIns="0" rtlCol="0" anchor="t"/>
          <a:lstStyle/>
          <a:p>
            <a:pPr algn="ctr" indent="0" marL="0">
              <a:buNone/>
            </a:pPr>
            <a:r>
              <a:rPr lang="en-US" sz="1200" dirty="0">
                <a:solidFill>
                  <a:schemeClr val="bg1"/>
                </a:solidFill>
              </a:rPr>
              <a:t>eth0, lo, any</a:t>
            </a:r>
            <a:endParaRPr lang="en-US" sz="1200" dirty="0"/>
          </a:p>
        </p:txBody>
      </p:sp>
      <p:sp>
        <p:nvSpPr>
          <p:cNvPr id="6" name="Arrow 1"/>
          <p:cNvSpPr/>
          <p:nvPr/>
        </p:nvSpPr>
        <p:spPr>
          <a:xfrm>
            <a:off x="2148840" y="1691640"/>
            <a:ext cx="365760" cy="274320"/>
          </a:xfrm>
          <a:prstGeom prst="rightArrow">
            <a:avLst/>
          </a:prstGeom>
          <a:solidFill>
            <a:schemeClr val="accent4"/>
          </a:solidFill>
          <a:ln w="12700">
            <a:solidFill>
              <a:schemeClr val="accent4"/>
            </a:solidFill>
            <a:prstDash val="solid"/>
          </a:ln>
        </p:spPr>
      </p:sp>
      <p:sp>
        <p:nvSpPr>
          <p:cNvPr id="7" name="Text 5"/>
          <p:cNvSpPr txBox="1"/>
          <p:nvPr/>
        </p:nvSpPr>
        <p:spPr>
          <a:xfrm>
            <a:off x="1965960" y="1417320"/>
            <a:ext cx="731520" cy="228600"/>
          </a:xfrm>
          <a:prstGeom prst="rect">
            <a:avLst/>
          </a:prstGeom>
          <a:noFill/>
          <a:ln/>
        </p:spPr>
        <p:txBody>
          <a:bodyPr wrap="square" lIns="0" tIns="0" rIns="0" bIns="0" rtlCol="0" anchor="ctr"/>
          <a:lstStyle/>
          <a:p>
            <a:pPr algn="ctr" indent="0" marL="0">
              <a:buNone/>
            </a:pPr>
            <a:r>
              <a:rPr lang="en-US" sz="1000" dirty="0">
                <a:solidFill>
                  <a:schemeClr val="accent4"/>
                </a:solidFill>
              </a:rPr>
              <a:t>frames</a:t>
            </a:r>
            <a:endParaRPr lang="en-US" sz="1000" dirty="0"/>
          </a:p>
        </p:txBody>
      </p:sp>
      <p:sp>
        <p:nvSpPr>
          <p:cNvPr id="8" name="Tier C++ capture"/>
          <p:cNvSpPr/>
          <p:nvPr/>
        </p:nvSpPr>
        <p:spPr>
          <a:xfrm>
            <a:off x="2697480" y="1188720"/>
            <a:ext cx="1508760" cy="1188720"/>
          </a:xfrm>
          <a:prstGeom prst="rect">
            <a:avLst/>
          </a:prstGeom>
          <a:solidFill>
            <a:schemeClr val="accent5"/>
          </a:solidFill>
          <a:ln w="12700">
            <a:solidFill>
              <a:schemeClr val="accent5"/>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2770632" y="1243584"/>
            <a:ext cx="1362456" cy="457200"/>
          </a:xfrm>
          <a:prstGeom prst="rect">
            <a:avLst/>
          </a:prstGeom>
          <a:noFill/>
          <a:ln/>
        </p:spPr>
        <p:txBody>
          <a:bodyPr wrap="square" lIns="0" tIns="0" rIns="0" bIns="0" rtlCol="0" anchor="ctr"/>
          <a:lstStyle/>
          <a:p>
            <a:pPr algn="ctr" indent="0" marL="0">
              <a:buNone/>
            </a:pPr>
            <a:r>
              <a:rPr lang="en-US" sz="1400" b="1" dirty="0">
                <a:solidFill>
                  <a:schemeClr val="bg1"/>
                </a:solidFill>
              </a:rPr>
              <a:t>C++ capture</a:t>
            </a:r>
            <a:endParaRPr lang="en-US" sz="1400" dirty="0"/>
          </a:p>
        </p:txBody>
      </p:sp>
      <p:sp>
        <p:nvSpPr>
          <p:cNvPr id="10" name="Text 8"/>
          <p:cNvSpPr txBox="1"/>
          <p:nvPr/>
        </p:nvSpPr>
        <p:spPr>
          <a:xfrm>
            <a:off x="2770632" y="1719072"/>
            <a:ext cx="1362456" cy="594360"/>
          </a:xfrm>
          <a:prstGeom prst="rect">
            <a:avLst/>
          </a:prstGeom>
          <a:noFill/>
          <a:ln/>
        </p:spPr>
        <p:txBody>
          <a:bodyPr wrap="square" lIns="0" tIns="0" rIns="0" bIns="0" rtlCol="0" anchor="t"/>
          <a:lstStyle/>
          <a:p>
            <a:pPr algn="ctr" indent="0" marL="0">
              <a:buNone/>
            </a:pPr>
            <a:r>
              <a:rPr lang="en-US" sz="1200" dirty="0">
                <a:solidFill>
                  <a:schemeClr val="bg1"/>
                </a:solidFill>
              </a:rPr>
              <a:t>sniffer_http, sniffer, dns_server</a:t>
            </a:r>
            <a:endParaRPr lang="en-US" sz="1200" dirty="0"/>
          </a:p>
        </p:txBody>
      </p:sp>
      <p:sp>
        <p:nvSpPr>
          <p:cNvPr id="11" name="Arrow 2"/>
          <p:cNvSpPr/>
          <p:nvPr/>
        </p:nvSpPr>
        <p:spPr>
          <a:xfrm>
            <a:off x="4389120" y="1691640"/>
            <a:ext cx="365760" cy="274320"/>
          </a:xfrm>
          <a:prstGeom prst="rightArrow">
            <a:avLst/>
          </a:prstGeom>
          <a:solidFill>
            <a:schemeClr val="accent4"/>
          </a:solidFill>
          <a:ln w="12700">
            <a:solidFill>
              <a:schemeClr val="accent4"/>
            </a:solidFill>
            <a:prstDash val="solid"/>
          </a:ln>
        </p:spPr>
      </p:sp>
      <p:sp>
        <p:nvSpPr>
          <p:cNvPr id="12" name="Text 10"/>
          <p:cNvSpPr txBox="1"/>
          <p:nvPr/>
        </p:nvSpPr>
        <p:spPr>
          <a:xfrm>
            <a:off x="4206240" y="1417320"/>
            <a:ext cx="731520" cy="228600"/>
          </a:xfrm>
          <a:prstGeom prst="rect">
            <a:avLst/>
          </a:prstGeom>
          <a:noFill/>
          <a:ln/>
        </p:spPr>
        <p:txBody>
          <a:bodyPr wrap="square" lIns="0" tIns="0" rIns="0" bIns="0" rtlCol="0" anchor="ctr"/>
          <a:lstStyle/>
          <a:p>
            <a:pPr algn="ctr" indent="0" marL="0">
              <a:buNone/>
            </a:pPr>
            <a:r>
              <a:rPr lang="en-US" sz="1000" dirty="0">
                <a:solidFill>
                  <a:schemeClr val="accent4"/>
                </a:solidFill>
              </a:rPr>
              <a:t>HTTP POST</a:t>
            </a:r>
            <a:endParaRPr lang="en-US" sz="1000" dirty="0"/>
          </a:p>
        </p:txBody>
      </p:sp>
      <p:sp>
        <p:nvSpPr>
          <p:cNvPr id="13" name="Tier Node.js backend"/>
          <p:cNvSpPr/>
          <p:nvPr/>
        </p:nvSpPr>
        <p:spPr>
          <a:xfrm>
            <a:off x="4937760" y="1188720"/>
            <a:ext cx="1508760" cy="1188720"/>
          </a:xfrm>
          <a:prstGeom prst="rect">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5010912" y="1243584"/>
            <a:ext cx="1362456" cy="457200"/>
          </a:xfrm>
          <a:prstGeom prst="rect">
            <a:avLst/>
          </a:prstGeom>
          <a:noFill/>
          <a:ln/>
        </p:spPr>
        <p:txBody>
          <a:bodyPr wrap="square" lIns="0" tIns="0" rIns="0" bIns="0" rtlCol="0" anchor="ctr"/>
          <a:lstStyle/>
          <a:p>
            <a:pPr algn="ctr" indent="0" marL="0">
              <a:buNone/>
            </a:pPr>
            <a:r>
              <a:rPr lang="en-US" sz="1400" b="1" dirty="0">
                <a:solidFill>
                  <a:schemeClr val="bg1"/>
                </a:solidFill>
              </a:rPr>
              <a:t>Node.js backend</a:t>
            </a:r>
            <a:endParaRPr lang="en-US" sz="1400" dirty="0"/>
          </a:p>
        </p:txBody>
      </p:sp>
      <p:sp>
        <p:nvSpPr>
          <p:cNvPr id="15" name="Text 13"/>
          <p:cNvSpPr txBox="1"/>
          <p:nvPr/>
        </p:nvSpPr>
        <p:spPr>
          <a:xfrm>
            <a:off x="5010912" y="1719072"/>
            <a:ext cx="1362456" cy="594360"/>
          </a:xfrm>
          <a:prstGeom prst="rect">
            <a:avLst/>
          </a:prstGeom>
          <a:noFill/>
          <a:ln/>
        </p:spPr>
        <p:txBody>
          <a:bodyPr wrap="square" lIns="0" tIns="0" rIns="0" bIns="0" rtlCol="0" anchor="t"/>
          <a:lstStyle/>
          <a:p>
            <a:pPr algn="ctr" indent="0" marL="0">
              <a:buNone/>
            </a:pPr>
            <a:r>
              <a:rPr lang="en-US" sz="1200" dirty="0">
                <a:solidFill>
                  <a:schemeClr val="bg1"/>
                </a:solidFill>
              </a:rPr>
              <a:t>Express :3000, Socket.IO</a:t>
            </a:r>
            <a:endParaRPr lang="en-US" sz="1200" dirty="0"/>
          </a:p>
        </p:txBody>
      </p:sp>
      <p:sp>
        <p:nvSpPr>
          <p:cNvPr id="16" name="Arrow 3"/>
          <p:cNvSpPr/>
          <p:nvPr/>
        </p:nvSpPr>
        <p:spPr>
          <a:xfrm>
            <a:off x="6629400" y="1691640"/>
            <a:ext cx="365760" cy="274320"/>
          </a:xfrm>
          <a:prstGeom prst="rightArrow">
            <a:avLst/>
          </a:prstGeom>
          <a:solidFill>
            <a:schemeClr val="accent4"/>
          </a:solidFill>
          <a:ln w="12700">
            <a:solidFill>
              <a:schemeClr val="accent4"/>
            </a:solidFill>
            <a:prstDash val="solid"/>
          </a:ln>
        </p:spPr>
      </p:sp>
      <p:sp>
        <p:nvSpPr>
          <p:cNvPr id="17" name="Text 15"/>
          <p:cNvSpPr txBox="1"/>
          <p:nvPr/>
        </p:nvSpPr>
        <p:spPr>
          <a:xfrm>
            <a:off x="6446520" y="1417320"/>
            <a:ext cx="731520" cy="228600"/>
          </a:xfrm>
          <a:prstGeom prst="rect">
            <a:avLst/>
          </a:prstGeom>
          <a:noFill/>
          <a:ln/>
        </p:spPr>
        <p:txBody>
          <a:bodyPr wrap="square" lIns="0" tIns="0" rIns="0" bIns="0" rtlCol="0" anchor="ctr"/>
          <a:lstStyle/>
          <a:p>
            <a:pPr algn="ctr" indent="0" marL="0">
              <a:buNone/>
            </a:pPr>
            <a:r>
              <a:rPr lang="en-US" sz="1000" dirty="0">
                <a:solidFill>
                  <a:schemeClr val="accent4"/>
                </a:solidFill>
              </a:rPr>
              <a:t>WebSocket</a:t>
            </a:r>
            <a:endParaRPr lang="en-US" sz="1000" dirty="0"/>
          </a:p>
        </p:txBody>
      </p:sp>
      <p:sp>
        <p:nvSpPr>
          <p:cNvPr id="18" name="Tier Browser dashboard"/>
          <p:cNvSpPr/>
          <p:nvPr/>
        </p:nvSpPr>
        <p:spPr>
          <a:xfrm>
            <a:off x="7178040" y="1188720"/>
            <a:ext cx="1508760" cy="1188720"/>
          </a:xfrm>
          <a:prstGeom prst="rect">
            <a:avLst/>
          </a:prstGeom>
          <a:solidFill>
            <a:schemeClr val="accent2"/>
          </a:solidFill>
          <a:ln w="12700">
            <a:solidFill>
              <a:schemeClr val="accent2"/>
            </a:solidFill>
            <a:prstDash val="solid"/>
          </a:ln>
          <a:effectLst>
            <a:outerShdw sx="100000" sy="100000" kx="0" ky="0" algn="bl" rotWithShape="0" blurRad="76200" dist="25400" dir="5400000">
              <a:srgbClr val="000000">
                <a:alpha val="12000"/>
              </a:srgbClr>
            </a:outerShdw>
          </a:effectLst>
        </p:spPr>
      </p:sp>
      <p:sp>
        <p:nvSpPr>
          <p:cNvPr id="19" name="Text 17"/>
          <p:cNvSpPr txBox="1"/>
          <p:nvPr/>
        </p:nvSpPr>
        <p:spPr>
          <a:xfrm>
            <a:off x="7251192" y="1243584"/>
            <a:ext cx="1362456" cy="457200"/>
          </a:xfrm>
          <a:prstGeom prst="rect">
            <a:avLst/>
          </a:prstGeom>
          <a:noFill/>
          <a:ln/>
        </p:spPr>
        <p:txBody>
          <a:bodyPr wrap="square" lIns="0" tIns="0" rIns="0" bIns="0" rtlCol="0" anchor="ctr"/>
          <a:lstStyle/>
          <a:p>
            <a:pPr algn="ctr" indent="0" marL="0">
              <a:buNone/>
            </a:pPr>
            <a:r>
              <a:rPr lang="en-US" sz="1400" b="1" dirty="0">
                <a:solidFill>
                  <a:schemeClr val="tx1"/>
                </a:solidFill>
              </a:rPr>
              <a:t>Browser dashboard</a:t>
            </a:r>
            <a:endParaRPr lang="en-US" sz="1400" dirty="0"/>
          </a:p>
        </p:txBody>
      </p:sp>
      <p:sp>
        <p:nvSpPr>
          <p:cNvPr id="20" name="Text 18"/>
          <p:cNvSpPr txBox="1"/>
          <p:nvPr/>
        </p:nvSpPr>
        <p:spPr>
          <a:xfrm>
            <a:off x="7251192" y="1719072"/>
            <a:ext cx="1362456" cy="594360"/>
          </a:xfrm>
          <a:prstGeom prst="rect">
            <a:avLst/>
          </a:prstGeom>
          <a:noFill/>
          <a:ln/>
        </p:spPr>
        <p:txBody>
          <a:bodyPr wrap="square" lIns="0" tIns="0" rIns="0" bIns="0" rtlCol="0" anchor="t"/>
          <a:lstStyle/>
          <a:p>
            <a:pPr algn="ctr" indent="0" marL="0">
              <a:buNone/>
            </a:pPr>
            <a:r>
              <a:rPr lang="en-US" sz="1200" dirty="0">
                <a:solidFill>
                  <a:schemeClr val="tx1"/>
                </a:solidFill>
              </a:rPr>
              <a:t>live list, filters, KPIs</a:t>
            </a:r>
            <a:endParaRPr lang="en-US" sz="1200" dirty="0"/>
          </a:p>
        </p:txBody>
      </p:sp>
      <p:sp>
        <p:nvSpPr>
          <p:cNvPr id="21" name="Text 19"/>
          <p:cNvSpPr txBox="1"/>
          <p:nvPr/>
        </p:nvSpPr>
        <p:spPr>
          <a:xfrm>
            <a:off x="457200" y="2606040"/>
            <a:ext cx="8229600" cy="32004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Decode pipeline, per packet</a:t>
            </a:r>
            <a:endParaRPr lang="en-US" sz="1800" dirty="0"/>
          </a:p>
        </p:txBody>
      </p:sp>
      <p:sp>
        <p:nvSpPr>
          <p:cNvPr id="22" name="Step 1"/>
          <p:cNvSpPr/>
          <p:nvPr/>
        </p:nvSpPr>
        <p:spPr>
          <a:xfrm>
            <a:off x="457200" y="3017520"/>
            <a:ext cx="1234440" cy="1051560"/>
          </a:xfrm>
          <a:prstGeom prst="roundRect">
            <a:avLst>
              <a:gd name="adj" fmla="val 6957"/>
            </a:avLst>
          </a:prstGeom>
          <a:solidFill>
            <a:schemeClr val="bg2"/>
          </a:solidFill>
          <a:ln w="12700">
            <a:solidFill>
              <a:schemeClr val="accent6"/>
            </a:solidFill>
            <a:prstDash val="solid"/>
          </a:ln>
        </p:spPr>
      </p:sp>
      <p:sp>
        <p:nvSpPr>
          <p:cNvPr id="23" name="Text 21"/>
          <p:cNvSpPr txBox="1"/>
          <p:nvPr/>
        </p:nvSpPr>
        <p:spPr>
          <a:xfrm>
            <a:off x="548640" y="3072384"/>
            <a:ext cx="274320" cy="274320"/>
          </a:xfrm>
          <a:prstGeom prst="rect">
            <a:avLst/>
          </a:prstGeom>
          <a:noFill/>
          <a:ln/>
        </p:spPr>
        <p:txBody>
          <a:bodyPr wrap="square" lIns="0" tIns="0" rIns="0" bIns="0" rtlCol="0" anchor="ctr"/>
          <a:lstStyle/>
          <a:p>
            <a:pPr indent="0" marL="0">
              <a:buNone/>
            </a:pPr>
            <a:r>
              <a:rPr lang="en-US" sz="1400" b="1" dirty="0">
                <a:solidFill>
                  <a:schemeClr val="accent1"/>
                </a:solidFill>
              </a:rPr>
              <a:t>1</a:t>
            </a:r>
            <a:endParaRPr lang="en-US" sz="1400" dirty="0"/>
          </a:p>
        </p:txBody>
      </p:sp>
      <p:sp>
        <p:nvSpPr>
          <p:cNvPr id="24" name="Text 22"/>
          <p:cNvSpPr txBox="1"/>
          <p:nvPr/>
        </p:nvSpPr>
        <p:spPr>
          <a:xfrm>
            <a:off x="548640" y="3337560"/>
            <a:ext cx="1051560" cy="685800"/>
          </a:xfrm>
          <a:prstGeom prst="rect">
            <a:avLst/>
          </a:prstGeom>
          <a:noFill/>
          <a:ln/>
        </p:spPr>
        <p:txBody>
          <a:bodyPr wrap="square" lIns="0" tIns="0" rIns="0" bIns="0" rtlCol="0" anchor="t"/>
          <a:lstStyle/>
          <a:p>
            <a:pPr indent="0" marL="0">
              <a:buNone/>
            </a:pPr>
            <a:r>
              <a:rPr lang="en-US" sz="1200" dirty="0">
                <a:solidFill>
                  <a:schemeClr val="tx1"/>
                </a:solidFill>
              </a:rPr>
              <a:t>Read datalink type</a:t>
            </a:r>
            <a:endParaRPr lang="en-US" sz="1200" dirty="0"/>
          </a:p>
        </p:txBody>
      </p:sp>
      <p:sp>
        <p:nvSpPr>
          <p:cNvPr id="25" name="Step 2"/>
          <p:cNvSpPr/>
          <p:nvPr/>
        </p:nvSpPr>
        <p:spPr>
          <a:xfrm>
            <a:off x="1856232" y="3017520"/>
            <a:ext cx="1234440" cy="1051560"/>
          </a:xfrm>
          <a:prstGeom prst="roundRect">
            <a:avLst>
              <a:gd name="adj" fmla="val 6957"/>
            </a:avLst>
          </a:prstGeom>
          <a:solidFill>
            <a:schemeClr val="bg2"/>
          </a:solidFill>
          <a:ln w="12700">
            <a:solidFill>
              <a:schemeClr val="accent6"/>
            </a:solidFill>
            <a:prstDash val="solid"/>
          </a:ln>
        </p:spPr>
      </p:sp>
      <p:sp>
        <p:nvSpPr>
          <p:cNvPr id="26" name="Text 24"/>
          <p:cNvSpPr txBox="1"/>
          <p:nvPr/>
        </p:nvSpPr>
        <p:spPr>
          <a:xfrm>
            <a:off x="1947672" y="3072384"/>
            <a:ext cx="274320" cy="274320"/>
          </a:xfrm>
          <a:prstGeom prst="rect">
            <a:avLst/>
          </a:prstGeom>
          <a:noFill/>
          <a:ln/>
        </p:spPr>
        <p:txBody>
          <a:bodyPr wrap="square" lIns="0" tIns="0" rIns="0" bIns="0" rtlCol="0" anchor="ctr"/>
          <a:lstStyle/>
          <a:p>
            <a:pPr indent="0" marL="0">
              <a:buNone/>
            </a:pPr>
            <a:r>
              <a:rPr lang="en-US" sz="1400" b="1" dirty="0">
                <a:solidFill>
                  <a:schemeClr val="accent1"/>
                </a:solidFill>
              </a:rPr>
              <a:t>2</a:t>
            </a:r>
            <a:endParaRPr lang="en-US" sz="1400" dirty="0"/>
          </a:p>
        </p:txBody>
      </p:sp>
      <p:sp>
        <p:nvSpPr>
          <p:cNvPr id="27" name="Text 25"/>
          <p:cNvSpPr txBox="1"/>
          <p:nvPr/>
        </p:nvSpPr>
        <p:spPr>
          <a:xfrm>
            <a:off x="1947672" y="3337560"/>
            <a:ext cx="1051560" cy="685800"/>
          </a:xfrm>
          <a:prstGeom prst="rect">
            <a:avLst/>
          </a:prstGeom>
          <a:noFill/>
          <a:ln/>
        </p:spPr>
        <p:txBody>
          <a:bodyPr wrap="square" lIns="0" tIns="0" rIns="0" bIns="0" rtlCol="0" anchor="t"/>
          <a:lstStyle/>
          <a:p>
            <a:pPr indent="0" marL="0">
              <a:buNone/>
            </a:pPr>
            <a:r>
              <a:rPr lang="en-US" sz="1200" dirty="0">
                <a:solidFill>
                  <a:schemeClr val="tx1"/>
                </a:solidFill>
              </a:rPr>
              <a:t>Parse link header</a:t>
            </a:r>
            <a:endParaRPr lang="en-US" sz="1200" dirty="0"/>
          </a:p>
        </p:txBody>
      </p:sp>
      <p:sp>
        <p:nvSpPr>
          <p:cNvPr id="28" name="Step 3"/>
          <p:cNvSpPr/>
          <p:nvPr/>
        </p:nvSpPr>
        <p:spPr>
          <a:xfrm>
            <a:off x="3255264" y="3017520"/>
            <a:ext cx="1234440" cy="1051560"/>
          </a:xfrm>
          <a:prstGeom prst="roundRect">
            <a:avLst>
              <a:gd name="adj" fmla="val 6957"/>
            </a:avLst>
          </a:prstGeom>
          <a:solidFill>
            <a:schemeClr val="bg2"/>
          </a:solidFill>
          <a:ln w="12700">
            <a:solidFill>
              <a:schemeClr val="accent6"/>
            </a:solidFill>
            <a:prstDash val="solid"/>
          </a:ln>
        </p:spPr>
      </p:sp>
      <p:sp>
        <p:nvSpPr>
          <p:cNvPr id="29" name="Text 27"/>
          <p:cNvSpPr txBox="1"/>
          <p:nvPr/>
        </p:nvSpPr>
        <p:spPr>
          <a:xfrm>
            <a:off x="3346704" y="3072384"/>
            <a:ext cx="274320" cy="274320"/>
          </a:xfrm>
          <a:prstGeom prst="rect">
            <a:avLst/>
          </a:prstGeom>
          <a:noFill/>
          <a:ln/>
        </p:spPr>
        <p:txBody>
          <a:bodyPr wrap="square" lIns="0" tIns="0" rIns="0" bIns="0" rtlCol="0" anchor="ctr"/>
          <a:lstStyle/>
          <a:p>
            <a:pPr indent="0" marL="0">
              <a:buNone/>
            </a:pPr>
            <a:r>
              <a:rPr lang="en-US" sz="1400" b="1" dirty="0">
                <a:solidFill>
                  <a:schemeClr val="accent1"/>
                </a:solidFill>
              </a:rPr>
              <a:t>3</a:t>
            </a:r>
            <a:endParaRPr lang="en-US" sz="1400" dirty="0"/>
          </a:p>
        </p:txBody>
      </p:sp>
      <p:sp>
        <p:nvSpPr>
          <p:cNvPr id="30" name="Text 28"/>
          <p:cNvSpPr txBox="1"/>
          <p:nvPr/>
        </p:nvSpPr>
        <p:spPr>
          <a:xfrm>
            <a:off x="3346704" y="3337560"/>
            <a:ext cx="1051560" cy="685800"/>
          </a:xfrm>
          <a:prstGeom prst="rect">
            <a:avLst/>
          </a:prstGeom>
          <a:noFill/>
          <a:ln/>
        </p:spPr>
        <p:txBody>
          <a:bodyPr wrap="square" lIns="0" tIns="0" rIns="0" bIns="0" rtlCol="0" anchor="t"/>
          <a:lstStyle/>
          <a:p>
            <a:pPr indent="0" marL="0">
              <a:buNone/>
            </a:pPr>
            <a:r>
              <a:rPr lang="en-US" sz="1200" dirty="0">
                <a:solidFill>
                  <a:schemeClr val="tx1"/>
                </a:solidFill>
              </a:rPr>
              <a:t>IPv4, IPv6 or ARP</a:t>
            </a:r>
            <a:endParaRPr lang="en-US" sz="1200" dirty="0"/>
          </a:p>
        </p:txBody>
      </p:sp>
      <p:sp>
        <p:nvSpPr>
          <p:cNvPr id="31" name="Step 4"/>
          <p:cNvSpPr/>
          <p:nvPr/>
        </p:nvSpPr>
        <p:spPr>
          <a:xfrm>
            <a:off x="4654296" y="3017520"/>
            <a:ext cx="1234440" cy="1051560"/>
          </a:xfrm>
          <a:prstGeom prst="roundRect">
            <a:avLst>
              <a:gd name="adj" fmla="val 6957"/>
            </a:avLst>
          </a:prstGeom>
          <a:solidFill>
            <a:schemeClr val="accent2"/>
          </a:solidFill>
          <a:ln w="12700">
            <a:solidFill>
              <a:schemeClr val="accent2"/>
            </a:solidFill>
            <a:prstDash val="solid"/>
          </a:ln>
        </p:spPr>
      </p:sp>
      <p:sp>
        <p:nvSpPr>
          <p:cNvPr id="32" name="Text 30"/>
          <p:cNvSpPr txBox="1"/>
          <p:nvPr/>
        </p:nvSpPr>
        <p:spPr>
          <a:xfrm>
            <a:off x="4745736" y="3072384"/>
            <a:ext cx="274320" cy="274320"/>
          </a:xfrm>
          <a:prstGeom prst="rect">
            <a:avLst/>
          </a:prstGeom>
          <a:noFill/>
          <a:ln/>
        </p:spPr>
        <p:txBody>
          <a:bodyPr wrap="square" lIns="0" tIns="0" rIns="0" bIns="0" rtlCol="0" anchor="ctr"/>
          <a:lstStyle/>
          <a:p>
            <a:pPr indent="0" marL="0">
              <a:buNone/>
            </a:pPr>
            <a:r>
              <a:rPr lang="en-US" sz="1400" b="1" dirty="0">
                <a:solidFill>
                  <a:schemeClr val="tx1"/>
                </a:solidFill>
              </a:rPr>
              <a:t>4</a:t>
            </a:r>
            <a:endParaRPr lang="en-US" sz="1400" dirty="0"/>
          </a:p>
        </p:txBody>
      </p:sp>
      <p:sp>
        <p:nvSpPr>
          <p:cNvPr id="33" name="Text 31"/>
          <p:cNvSpPr txBox="1"/>
          <p:nvPr/>
        </p:nvSpPr>
        <p:spPr>
          <a:xfrm>
            <a:off x="4745736" y="3337560"/>
            <a:ext cx="1051560" cy="685800"/>
          </a:xfrm>
          <a:prstGeom prst="rect">
            <a:avLst/>
          </a:prstGeom>
          <a:noFill/>
          <a:ln/>
        </p:spPr>
        <p:txBody>
          <a:bodyPr wrap="square" lIns="0" tIns="0" rIns="0" bIns="0" rtlCol="0" anchor="t"/>
          <a:lstStyle/>
          <a:p>
            <a:pPr indent="0" marL="0">
              <a:buNone/>
            </a:pPr>
            <a:r>
              <a:rPr lang="en-US" sz="1200" b="1" dirty="0">
                <a:solidFill>
                  <a:schemeClr val="tx1"/>
                </a:solidFill>
              </a:rPr>
              <a:t>Walk IPv6 extension headers</a:t>
            </a:r>
            <a:endParaRPr lang="en-US" sz="1200" dirty="0"/>
          </a:p>
        </p:txBody>
      </p:sp>
      <p:sp>
        <p:nvSpPr>
          <p:cNvPr id="34" name="Step 5"/>
          <p:cNvSpPr/>
          <p:nvPr/>
        </p:nvSpPr>
        <p:spPr>
          <a:xfrm>
            <a:off x="6053328" y="3017520"/>
            <a:ext cx="1234440" cy="1051560"/>
          </a:xfrm>
          <a:prstGeom prst="roundRect">
            <a:avLst>
              <a:gd name="adj" fmla="val 6957"/>
            </a:avLst>
          </a:prstGeom>
          <a:solidFill>
            <a:schemeClr val="bg2"/>
          </a:solidFill>
          <a:ln w="12700">
            <a:solidFill>
              <a:schemeClr val="accent6"/>
            </a:solidFill>
            <a:prstDash val="solid"/>
          </a:ln>
        </p:spPr>
      </p:sp>
      <p:sp>
        <p:nvSpPr>
          <p:cNvPr id="35" name="Text 33"/>
          <p:cNvSpPr txBox="1"/>
          <p:nvPr/>
        </p:nvSpPr>
        <p:spPr>
          <a:xfrm>
            <a:off x="6144768" y="3072384"/>
            <a:ext cx="274320" cy="274320"/>
          </a:xfrm>
          <a:prstGeom prst="rect">
            <a:avLst/>
          </a:prstGeom>
          <a:noFill/>
          <a:ln/>
        </p:spPr>
        <p:txBody>
          <a:bodyPr wrap="square" lIns="0" tIns="0" rIns="0" bIns="0" rtlCol="0" anchor="ctr"/>
          <a:lstStyle/>
          <a:p>
            <a:pPr indent="0" marL="0">
              <a:buNone/>
            </a:pPr>
            <a:r>
              <a:rPr lang="en-US" sz="1400" b="1" dirty="0">
                <a:solidFill>
                  <a:schemeClr val="accent1"/>
                </a:solidFill>
              </a:rPr>
              <a:t>5</a:t>
            </a:r>
            <a:endParaRPr lang="en-US" sz="1400" dirty="0"/>
          </a:p>
        </p:txBody>
      </p:sp>
      <p:sp>
        <p:nvSpPr>
          <p:cNvPr id="36" name="Text 34"/>
          <p:cNvSpPr txBox="1"/>
          <p:nvPr/>
        </p:nvSpPr>
        <p:spPr>
          <a:xfrm>
            <a:off x="6144768" y="3337560"/>
            <a:ext cx="1051560" cy="685800"/>
          </a:xfrm>
          <a:prstGeom prst="rect">
            <a:avLst/>
          </a:prstGeom>
          <a:noFill/>
          <a:ln/>
        </p:spPr>
        <p:txBody>
          <a:bodyPr wrap="square" lIns="0" tIns="0" rIns="0" bIns="0" rtlCol="0" anchor="t"/>
          <a:lstStyle/>
          <a:p>
            <a:pPr indent="0" marL="0">
              <a:buNone/>
            </a:pPr>
            <a:r>
              <a:rPr lang="en-US" sz="1200" dirty="0">
                <a:solidFill>
                  <a:schemeClr val="tx1"/>
                </a:solidFill>
              </a:rPr>
              <a:t>Decode TCP, UDP, ICMP</a:t>
            </a:r>
            <a:endParaRPr lang="en-US" sz="1200" dirty="0"/>
          </a:p>
        </p:txBody>
      </p:sp>
      <p:sp>
        <p:nvSpPr>
          <p:cNvPr id="37" name="Step 6"/>
          <p:cNvSpPr/>
          <p:nvPr/>
        </p:nvSpPr>
        <p:spPr>
          <a:xfrm>
            <a:off x="7452360" y="3017520"/>
            <a:ext cx="1234440" cy="1051560"/>
          </a:xfrm>
          <a:prstGeom prst="roundRect">
            <a:avLst>
              <a:gd name="adj" fmla="val 6957"/>
            </a:avLst>
          </a:prstGeom>
          <a:solidFill>
            <a:schemeClr val="bg2"/>
          </a:solidFill>
          <a:ln w="12700">
            <a:solidFill>
              <a:schemeClr val="accent6"/>
            </a:solidFill>
            <a:prstDash val="solid"/>
          </a:ln>
        </p:spPr>
      </p:sp>
      <p:sp>
        <p:nvSpPr>
          <p:cNvPr id="38" name="Text 36"/>
          <p:cNvSpPr txBox="1"/>
          <p:nvPr/>
        </p:nvSpPr>
        <p:spPr>
          <a:xfrm>
            <a:off x="7543800" y="3072384"/>
            <a:ext cx="274320" cy="274320"/>
          </a:xfrm>
          <a:prstGeom prst="rect">
            <a:avLst/>
          </a:prstGeom>
          <a:noFill/>
          <a:ln/>
        </p:spPr>
        <p:txBody>
          <a:bodyPr wrap="square" lIns="0" tIns="0" rIns="0" bIns="0" rtlCol="0" anchor="ctr"/>
          <a:lstStyle/>
          <a:p>
            <a:pPr indent="0" marL="0">
              <a:buNone/>
            </a:pPr>
            <a:r>
              <a:rPr lang="en-US" sz="1400" b="1" dirty="0">
                <a:solidFill>
                  <a:schemeClr val="accent1"/>
                </a:solidFill>
              </a:rPr>
              <a:t>6</a:t>
            </a:r>
            <a:endParaRPr lang="en-US" sz="1400" dirty="0"/>
          </a:p>
        </p:txBody>
      </p:sp>
      <p:sp>
        <p:nvSpPr>
          <p:cNvPr id="39" name="Text 37"/>
          <p:cNvSpPr txBox="1"/>
          <p:nvPr/>
        </p:nvSpPr>
        <p:spPr>
          <a:xfrm>
            <a:off x="7543800" y="3337560"/>
            <a:ext cx="1051560" cy="685800"/>
          </a:xfrm>
          <a:prstGeom prst="rect">
            <a:avLst/>
          </a:prstGeom>
          <a:noFill/>
          <a:ln/>
        </p:spPr>
        <p:txBody>
          <a:bodyPr wrap="square" lIns="0" tIns="0" rIns="0" bIns="0" rtlCol="0" anchor="t"/>
          <a:lstStyle/>
          <a:p>
            <a:pPr indent="0" marL="0">
              <a:buNone/>
            </a:pPr>
            <a:r>
              <a:rPr lang="en-US" sz="1200" dirty="0">
                <a:solidFill>
                  <a:schemeClr val="tx1"/>
                </a:solidFill>
              </a:rPr>
              <a:t>Self-traffic check, then POST</a:t>
            </a:r>
            <a:endParaRPr lang="en-US" sz="1200" dirty="0"/>
          </a:p>
        </p:txBody>
      </p:sp>
      <p:sp>
        <p:nvSpPr>
          <p:cNvPr id="40" name="Text 38"/>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1200" dirty="0">
                <a:solidFill>
                  <a:schemeClr val="tx2"/>
                </a:solidFill>
              </a:rPr>
              <a:t>Extension headers handled: Hop-by-Hop, Routing, Fragment, Destination Options, AH, Mobility. Every step is bounded by the captured length.</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Implementation and testbed</a:t>
            </a:r>
            <a:endParaRPr lang="en-US" sz="3600" dirty="0"/>
          </a:p>
        </p:txBody>
      </p:sp>
      <p:sp>
        <p:nvSpPr>
          <p:cNvPr id="3" name="Stat lines of C++, 3 programs"/>
          <p:cNvSpPr/>
          <p:nvPr/>
        </p:nvSpPr>
        <p:spPr>
          <a:xfrm>
            <a:off x="457200" y="1188720"/>
            <a:ext cx="1783080" cy="118872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457200" y="1234440"/>
            <a:ext cx="1783080" cy="68580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1,560</a:t>
            </a:r>
            <a:endParaRPr lang="en-US" sz="3600" dirty="0"/>
          </a:p>
        </p:txBody>
      </p:sp>
      <p:sp>
        <p:nvSpPr>
          <p:cNvPr id="5" name="Text 3"/>
          <p:cNvSpPr txBox="1"/>
          <p:nvPr/>
        </p:nvSpPr>
        <p:spPr>
          <a:xfrm>
            <a:off x="548640" y="1920240"/>
            <a:ext cx="1600200" cy="411480"/>
          </a:xfrm>
          <a:prstGeom prst="rect">
            <a:avLst/>
          </a:prstGeom>
          <a:noFill/>
          <a:ln/>
        </p:spPr>
        <p:txBody>
          <a:bodyPr wrap="square" lIns="0" tIns="0" rIns="0" bIns="0" rtlCol="0" anchor="t"/>
          <a:lstStyle/>
          <a:p>
            <a:pPr algn="ctr" indent="0" marL="0">
              <a:buNone/>
            </a:pPr>
            <a:r>
              <a:rPr lang="en-US" sz="1200" dirty="0">
                <a:solidFill>
                  <a:schemeClr val="tx2"/>
                </a:solidFill>
              </a:rPr>
              <a:t>lines of C++, 3 programs</a:t>
            </a:r>
            <a:endParaRPr lang="en-US" sz="1200" dirty="0"/>
          </a:p>
        </p:txBody>
      </p:sp>
      <p:sp>
        <p:nvSpPr>
          <p:cNvPr id="6" name="Stat datalink types decoded"/>
          <p:cNvSpPr/>
          <p:nvPr/>
        </p:nvSpPr>
        <p:spPr>
          <a:xfrm>
            <a:off x="2606040" y="1188720"/>
            <a:ext cx="1783080" cy="118872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2606040" y="1234440"/>
            <a:ext cx="1783080" cy="68580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5</a:t>
            </a:r>
            <a:endParaRPr lang="en-US" sz="3600" dirty="0"/>
          </a:p>
        </p:txBody>
      </p:sp>
      <p:sp>
        <p:nvSpPr>
          <p:cNvPr id="8" name="Text 6"/>
          <p:cNvSpPr txBox="1"/>
          <p:nvPr/>
        </p:nvSpPr>
        <p:spPr>
          <a:xfrm>
            <a:off x="2697480" y="1920240"/>
            <a:ext cx="1600200" cy="411480"/>
          </a:xfrm>
          <a:prstGeom prst="rect">
            <a:avLst/>
          </a:prstGeom>
          <a:noFill/>
          <a:ln/>
        </p:spPr>
        <p:txBody>
          <a:bodyPr wrap="square" lIns="0" tIns="0" rIns="0" bIns="0" rtlCol="0" anchor="t"/>
          <a:lstStyle/>
          <a:p>
            <a:pPr algn="ctr" indent="0" marL="0">
              <a:buNone/>
            </a:pPr>
            <a:r>
              <a:rPr lang="en-US" sz="1200" dirty="0">
                <a:solidFill>
                  <a:schemeClr val="tx2"/>
                </a:solidFill>
              </a:rPr>
              <a:t>datalink types decoded</a:t>
            </a:r>
            <a:endParaRPr lang="en-US" sz="1200" dirty="0"/>
          </a:p>
        </p:txBody>
      </p:sp>
      <p:sp>
        <p:nvSpPr>
          <p:cNvPr id="9" name="Stat IPv6 extension header types"/>
          <p:cNvSpPr/>
          <p:nvPr/>
        </p:nvSpPr>
        <p:spPr>
          <a:xfrm>
            <a:off x="4754880" y="1188720"/>
            <a:ext cx="1783080" cy="118872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4754880" y="1234440"/>
            <a:ext cx="1783080" cy="68580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6</a:t>
            </a:r>
            <a:endParaRPr lang="en-US" sz="3600" dirty="0"/>
          </a:p>
        </p:txBody>
      </p:sp>
      <p:sp>
        <p:nvSpPr>
          <p:cNvPr id="11" name="Text 9"/>
          <p:cNvSpPr txBox="1"/>
          <p:nvPr/>
        </p:nvSpPr>
        <p:spPr>
          <a:xfrm>
            <a:off x="4846320" y="1920240"/>
            <a:ext cx="1600200" cy="411480"/>
          </a:xfrm>
          <a:prstGeom prst="rect">
            <a:avLst/>
          </a:prstGeom>
          <a:noFill/>
          <a:ln/>
        </p:spPr>
        <p:txBody>
          <a:bodyPr wrap="square" lIns="0" tIns="0" rIns="0" bIns="0" rtlCol="0" anchor="t"/>
          <a:lstStyle/>
          <a:p>
            <a:pPr algn="ctr" indent="0" marL="0">
              <a:buNone/>
            </a:pPr>
            <a:r>
              <a:rPr lang="en-US" sz="1200" dirty="0">
                <a:solidFill>
                  <a:schemeClr val="tx2"/>
                </a:solidFill>
              </a:rPr>
              <a:t>IPv6 extension header types</a:t>
            </a:r>
            <a:endParaRPr lang="en-US" sz="1200" dirty="0"/>
          </a:p>
        </p:txBody>
      </p:sp>
      <p:sp>
        <p:nvSpPr>
          <p:cNvPr id="12" name="Stat load scenarios, 5 runs each"/>
          <p:cNvSpPr/>
          <p:nvPr/>
        </p:nvSpPr>
        <p:spPr>
          <a:xfrm>
            <a:off x="6903720" y="1188720"/>
            <a:ext cx="1783080" cy="118872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6903720" y="1234440"/>
            <a:ext cx="1783080" cy="68580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3</a:t>
            </a:r>
            <a:endParaRPr lang="en-US" sz="3600" dirty="0"/>
          </a:p>
        </p:txBody>
      </p:sp>
      <p:sp>
        <p:nvSpPr>
          <p:cNvPr id="14" name="Text 12"/>
          <p:cNvSpPr txBox="1"/>
          <p:nvPr/>
        </p:nvSpPr>
        <p:spPr>
          <a:xfrm>
            <a:off x="6995160" y="1920240"/>
            <a:ext cx="1600200" cy="411480"/>
          </a:xfrm>
          <a:prstGeom prst="rect">
            <a:avLst/>
          </a:prstGeom>
          <a:noFill/>
          <a:ln/>
        </p:spPr>
        <p:txBody>
          <a:bodyPr wrap="square" lIns="0" tIns="0" rIns="0" bIns="0" rtlCol="0" anchor="t"/>
          <a:lstStyle/>
          <a:p>
            <a:pPr algn="ctr" indent="0" marL="0">
              <a:buNone/>
            </a:pPr>
            <a:r>
              <a:rPr lang="en-US" sz="1200" dirty="0">
                <a:solidFill>
                  <a:schemeClr val="tx2"/>
                </a:solidFill>
              </a:rPr>
              <a:t>load scenarios, 5 runs each</a:t>
            </a:r>
            <a:endParaRPr lang="en-US" sz="1200" dirty="0"/>
          </a:p>
        </p:txBody>
      </p:sp>
      <p:sp>
        <p:nvSpPr>
          <p:cNvPr id="15" name="Testbed card"/>
          <p:cNvSpPr/>
          <p:nvPr/>
        </p:nvSpPr>
        <p:spPr>
          <a:xfrm>
            <a:off x="457200" y="2606040"/>
            <a:ext cx="3977640" cy="205740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685800" y="2697480"/>
            <a:ext cx="3657600"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Testbed</a:t>
            </a:r>
            <a:endParaRPr lang="en-US" sz="1800" dirty="0"/>
          </a:p>
        </p:txBody>
      </p:sp>
      <p:sp>
        <p:nvSpPr>
          <p:cNvPr id="17" name="Text 15"/>
          <p:cNvSpPr txBox="1"/>
          <p:nvPr/>
        </p:nvSpPr>
        <p:spPr>
          <a:xfrm>
            <a:off x="685800" y="3108960"/>
            <a:ext cx="3566160" cy="1463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Ubuntu 24.04 host, 1 vCPU, loopback</a:t>
            </a:r>
            <a:endParaRPr lang="en-US" sz="1400" dirty="0"/>
          </a:p>
          <a:p>
            <a:pPr marL="342900" indent="-342900">
              <a:spcAft>
                <a:spcPts val="800"/>
              </a:spcAft>
              <a:buSzPct val="100000"/>
              <a:buChar char="•"/>
            </a:pPr>
            <a:r>
              <a:rPr lang="en-US" sz="1400" dirty="0">
                <a:solidFill>
                  <a:schemeClr val="tx2"/>
                </a:solidFill>
              </a:rPr>
              <a:t>2,000-packet Scapy pool replayed with tcpreplay</a:t>
            </a:r>
            <a:endParaRPr lang="en-US" sz="1400" dirty="0"/>
          </a:p>
          <a:p>
            <a:pPr marL="342900" indent="-342900">
              <a:spcAft>
                <a:spcPts val="800"/>
              </a:spcAft>
              <a:buSzPct val="100000"/>
              <a:buChar char="•"/>
            </a:pPr>
            <a:r>
              <a:rPr lang="en-US" sz="1400" dirty="0">
                <a:solidFill>
                  <a:schemeClr val="tx2"/>
                </a:solidFill>
              </a:rPr>
              <a:t>Ground truth by construction, checked with tcpdump</a:t>
            </a:r>
            <a:endParaRPr lang="en-US" sz="1400" dirty="0"/>
          </a:p>
        </p:txBody>
      </p:sp>
      <p:sp>
        <p:nvSpPr>
          <p:cNvPr id="18" name="Scenarios card"/>
          <p:cNvSpPr/>
          <p:nvPr/>
        </p:nvSpPr>
        <p:spPr>
          <a:xfrm>
            <a:off x="4709160" y="2606040"/>
            <a:ext cx="3977640" cy="205740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Text 17"/>
          <p:cNvSpPr txBox="1"/>
          <p:nvPr/>
        </p:nvSpPr>
        <p:spPr>
          <a:xfrm>
            <a:off x="4937760" y="2697480"/>
            <a:ext cx="3657600"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Scenarios</a:t>
            </a:r>
            <a:endParaRPr lang="en-US" sz="1800" dirty="0"/>
          </a:p>
        </p:txBody>
      </p:sp>
      <p:sp>
        <p:nvSpPr>
          <p:cNvPr id="20" name="Text 18"/>
          <p:cNvSpPr txBox="1"/>
          <p:nvPr/>
        </p:nvSpPr>
        <p:spPr>
          <a:xfrm>
            <a:off x="4937760" y="3108960"/>
            <a:ext cx="3566160" cy="1463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50, 1,000 and 10,000 packets/s, 20 s per run</a:t>
            </a:r>
            <a:endParaRPr lang="en-US" sz="1400" dirty="0"/>
          </a:p>
          <a:p>
            <a:pPr marL="342900" indent="-342900">
              <a:spcAft>
                <a:spcPts val="800"/>
              </a:spcAft>
              <a:buSzPct val="100000"/>
              <a:buChar char="•"/>
            </a:pPr>
            <a:r>
              <a:rPr lang="en-US" sz="1400" dirty="0">
                <a:solidFill>
                  <a:schemeClr val="tx2"/>
                </a:solidFill>
              </a:rPr>
              <a:t>40 % IPv6 with extension headers, 20 % IPv6, 35 % IPv4, 5 % ARP</a:t>
            </a:r>
            <a:endParaRPr lang="en-US" sz="1400" dirty="0"/>
          </a:p>
          <a:p>
            <a:pPr marL="342900" indent="-342900">
              <a:spcAft>
                <a:spcPts val="800"/>
              </a:spcAft>
              <a:buSzPct val="100000"/>
              <a:buChar char="•"/>
            </a:pPr>
            <a:r>
              <a:rPr lang="en-US" sz="1400" dirty="0">
                <a:solidFill>
                  <a:schemeClr val="tx2"/>
                </a:solidFill>
              </a:rPr>
              <a:t>Baseline = same code without the extension-header walk and the self-capture guard</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Results: baseline vs proposed</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783080"/>
                <a:gridCol w="914400"/>
                <a:gridCol w="1005840"/>
                <a:gridCol w="914400"/>
                <a:gridCol w="1005840"/>
                <a:gridCol w="914400"/>
                <a:gridCol w="1005840"/>
              </a:tblGrid>
              <a:tr h="310896">
                <a:tc rowSpan="2">
                  <a:txBody>
                    <a:bodyPr/>
                    <a:lstStyle/>
                    <a:p>
                      <a:pPr algn="ctr" indent="0" marL="0">
                        <a:buNone/>
                      </a:pPr>
                      <a:r>
                        <a:rPr lang="en-US" sz="1200" b="1" dirty="0">
                          <a:solidFill>
                            <a:schemeClr val="bg1"/>
                          </a:solidFill>
                        </a:rPr>
                        <a:t>Metric</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5"/>
                    </a:solidFill>
                  </a:tcPr>
                </a:tc>
                <a:tc gridSpan="2">
                  <a:txBody>
                    <a:bodyPr/>
                    <a:lstStyle/>
                    <a:p>
                      <a:pPr algn="ctr" indent="0" marL="0">
                        <a:buNone/>
                      </a:pPr>
                      <a:r>
                        <a:rPr lang="en-US" sz="1200" b="1" dirty="0">
                          <a:solidFill>
                            <a:schemeClr val="bg1"/>
                          </a:solidFill>
                        </a:rPr>
                        <a:t>S1  50 pkt/s</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5"/>
                    </a:solidFill>
                  </a:tcPr>
                </a:tc>
                <a:tc hMerge="1">
                  <a:tcPr/>
                </a:tc>
                <a:tc gridSpan="2">
                  <a:txBody>
                    <a:bodyPr/>
                    <a:lstStyle/>
                    <a:p>
                      <a:pPr algn="ctr" indent="0" marL="0">
                        <a:buNone/>
                      </a:pPr>
                      <a:r>
                        <a:rPr lang="en-US" sz="1200" b="1" dirty="0">
                          <a:solidFill>
                            <a:schemeClr val="bg1"/>
                          </a:solidFill>
                        </a:rPr>
                        <a:t>S2  1,000 pkt/s</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5"/>
                    </a:solidFill>
                  </a:tcPr>
                </a:tc>
                <a:tc hMerge="1">
                  <a:tcPr/>
                </a:tc>
                <a:tc gridSpan="2">
                  <a:txBody>
                    <a:bodyPr/>
                    <a:lstStyle/>
                    <a:p>
                      <a:pPr algn="ctr" indent="0" marL="0">
                        <a:buNone/>
                      </a:pPr>
                      <a:r>
                        <a:rPr lang="en-US" sz="1200" b="1" dirty="0">
                          <a:solidFill>
                            <a:schemeClr val="bg1"/>
                          </a:solidFill>
                        </a:rPr>
                        <a:t>S3  10,000 pkt/s</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5"/>
                    </a:solidFill>
                  </a:tcPr>
                </a:tc>
                <a:tc hMerge="1">
                  <a:tcPr/>
                </a:tc>
              </a:tr>
              <a:tr h="274320">
                <a:tc vMerge="1">
                  <a:tcPr/>
                </a:tc>
                <a:tc>
                  <a:txBody>
                    <a:bodyPr/>
                    <a:lstStyle/>
                    <a:p>
                      <a:pPr algn="ctr" indent="0" marL="0">
                        <a:buNone/>
                      </a:pPr>
                      <a:r>
                        <a:rPr lang="en-US" sz="1200" b="1" dirty="0">
                          <a:solidFill>
                            <a:schemeClr val="bg1"/>
                          </a:solidFill>
                        </a:rPr>
                        <a:t>Base</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3"/>
                    </a:solidFill>
                  </a:tcPr>
                </a:tc>
                <a:tc>
                  <a:txBody>
                    <a:bodyPr/>
                    <a:lstStyle/>
                    <a:p>
                      <a:pPr algn="ctr" indent="0" marL="0">
                        <a:buNone/>
                      </a:pPr>
                      <a:r>
                        <a:rPr lang="en-US" sz="1200" b="1" dirty="0">
                          <a:solidFill>
                            <a:schemeClr val="bg1"/>
                          </a:solidFill>
                        </a:rPr>
                        <a:t>Prop</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Base</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3"/>
                    </a:solidFill>
                  </a:tcPr>
                </a:tc>
                <a:tc>
                  <a:txBody>
                    <a:bodyPr/>
                    <a:lstStyle/>
                    <a:p>
                      <a:pPr algn="ctr" indent="0" marL="0">
                        <a:buNone/>
                      </a:pPr>
                      <a:r>
                        <a:rPr lang="en-US" sz="1200" b="1" dirty="0">
                          <a:solidFill>
                            <a:schemeClr val="bg1"/>
                          </a:solidFill>
                        </a:rPr>
                        <a:t>Prop</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Base</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3"/>
                    </a:solidFill>
                  </a:tcPr>
                </a:tc>
                <a:tc>
                  <a:txBody>
                    <a:bodyPr/>
                    <a:lstStyle/>
                    <a:p>
                      <a:pPr algn="ctr" indent="0" marL="0">
                        <a:buNone/>
                      </a:pPr>
                      <a:r>
                        <a:rPr lang="en-US" sz="1200" b="1" dirty="0">
                          <a:solidFill>
                            <a:schemeClr val="bg1"/>
                          </a:solidFill>
                        </a:rPr>
                        <a:t>Prop</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1"/>
                    </a:solidFill>
                  </a:tcPr>
                </a:tc>
              </a:tr>
              <a:tr h="384048">
                <a:tc>
                  <a:txBody>
                    <a:bodyPr/>
                    <a:lstStyle/>
                    <a:p>
                      <a:pPr indent="0" marL="0">
                        <a:buNone/>
                      </a:pPr>
                      <a:r>
                        <a:rPr lang="en-US" sz="1200" b="1" dirty="0">
                          <a:solidFill>
                            <a:schemeClr val="tx1"/>
                          </a:solidFill>
                        </a:rPr>
                        <a:t>M1 Ext-header accuracy (%)</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3"/>
                          </a:solidFill>
                        </a:rPr>
                        <a:t>0.0 ± 0.0</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1"/>
                          </a:solidFill>
                        </a:rPr>
                        <a:t>100.0 ± 0.0</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3"/>
                          </a:solidFill>
                        </a:rPr>
                        <a:t>0.0 ± 0.0</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1"/>
                          </a:solidFill>
                        </a:rPr>
                        <a:t>100.0 ± 0.0</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3"/>
                          </a:solidFill>
                        </a:rPr>
                        <a:t>0.0 ± 0.0</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1"/>
                          </a:solidFill>
                        </a:rPr>
                        <a:t>100.0 ± 0.0</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384048">
                <a:tc>
                  <a:txBody>
                    <a:bodyPr/>
                    <a:lstStyle/>
                    <a:p>
                      <a:pPr indent="0" marL="0">
                        <a:buNone/>
                      </a:pPr>
                      <a:r>
                        <a:rPr lang="en-US" sz="1200" b="1" dirty="0">
                          <a:solidFill>
                            <a:schemeClr val="tx1"/>
                          </a:solidFill>
                        </a:rPr>
                        <a:t>M2 Amplification (×)</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3"/>
                          </a:solidFill>
                        </a:rPr>
                        <a:t>36.80 ± 0.70</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1"/>
                          </a:solidFill>
                        </a:rPr>
                        <a:t>1.00 ± 0.00</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3"/>
                          </a:solidFill>
                        </a:rPr>
                        <a:t>1.95 ± 0.02</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1"/>
                          </a:solidFill>
                        </a:rPr>
                        <a:t>1.00 ± 0.00</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3"/>
                          </a:solidFill>
                        </a:rPr>
                        <a:t>0.20 ± 0.00</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1"/>
                          </a:solidFill>
                        </a:rPr>
                        <a:t>0.20 ± 0.00</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384048">
                <a:tc>
                  <a:txBody>
                    <a:bodyPr/>
                    <a:lstStyle/>
                    <a:p>
                      <a:pPr indent="0" marL="0">
                        <a:buNone/>
                      </a:pPr>
                      <a:r>
                        <a:rPr lang="en-US" sz="1200" b="1" dirty="0">
                          <a:solidFill>
                            <a:schemeClr val="tx1"/>
                          </a:solidFill>
                        </a:rPr>
                        <a:t>M3 Kernel drops (%)</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3"/>
                          </a:solidFill>
                        </a:rPr>
                        <a:t>87.25 ± 0.04</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1"/>
                          </a:solidFill>
                        </a:rPr>
                        <a:t>0.00 ± 0.00</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3"/>
                          </a:solidFill>
                        </a:rPr>
                        <a:t>87.98 ± 0.09</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1"/>
                          </a:solidFill>
                        </a:rPr>
                        <a:t>0.00 ± 0.00</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3"/>
                          </a:solidFill>
                        </a:rPr>
                        <a:t>91.98 ± 0.05</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1"/>
                          </a:solidFill>
                        </a:rPr>
                        <a:t>78.98 ± 0.32</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384048">
                <a:tc>
                  <a:txBody>
                    <a:bodyPr/>
                    <a:lstStyle/>
                    <a:p>
                      <a:pPr indent="0" marL="0">
                        <a:buNone/>
                      </a:pPr>
                      <a:r>
                        <a:rPr lang="en-US" sz="1200" b="1" dirty="0">
                          <a:solidFill>
                            <a:schemeClr val="tx1"/>
                          </a:solidFill>
                        </a:rPr>
                        <a:t>M4 Delivery (%)</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3"/>
                          </a:solidFill>
                        </a:rPr>
                        <a:t>99.80 ± 0.00</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1"/>
                          </a:solidFill>
                        </a:rPr>
                        <a:t>100.00 ± 0.00</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3"/>
                          </a:solidFill>
                        </a:rPr>
                        <a:t>99.80 ± 0.00</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1"/>
                          </a:solidFill>
                        </a:rPr>
                        <a:t>99.87 ± 0.00</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3"/>
                          </a:solidFill>
                        </a:rPr>
                        <a:t>99.80 ± 0.00</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1"/>
                          </a:solidFill>
                        </a:rPr>
                        <a:t>99.80 ± 0.00</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384048">
                <a:tc>
                  <a:txBody>
                    <a:bodyPr/>
                    <a:lstStyle/>
                    <a:p>
                      <a:pPr indent="0" marL="0">
                        <a:buNone/>
                      </a:pPr>
                      <a:r>
                        <a:rPr lang="en-US" sz="1200" b="1" dirty="0">
                          <a:solidFill>
                            <a:schemeClr val="tx1"/>
                          </a:solidFill>
                        </a:rPr>
                        <a:t>M5 Coverage (%)</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3"/>
                          </a:solidFill>
                        </a:rPr>
                        <a:t>13.7 ± 0.7</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1"/>
                          </a:solidFill>
                        </a:rPr>
                        <a:t>100.0 ± 0.0</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3"/>
                          </a:solidFill>
                        </a:rPr>
                        <a:t>8.1 ± 0.1</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1"/>
                          </a:solidFill>
                        </a:rPr>
                        <a:t>100.0 ± 0.0</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3"/>
                          </a:solidFill>
                        </a:rPr>
                        <a:t>3.1 ± 0.2</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algn="ctr" indent="0" marL="0">
                        <a:buNone/>
                      </a:pPr>
                      <a:r>
                        <a:rPr lang="en-US" sz="1200" dirty="0">
                          <a:solidFill>
                            <a:schemeClr val="accent1"/>
                          </a:solidFill>
                        </a:rPr>
                        <a:t>19.8 ± 0.5</a:t>
                      </a:r>
                      <a:endParaRPr lang="en-US" sz="1200" dirty="0"/>
                    </a:p>
                  </a:txBody>
                  <a:tcPr marL="36576" marR="36576" marT="0" marB="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bl>
          </a:graphicData>
        </a:graphic>
      </p:graphicFrame>
      <p:sp>
        <p:nvSpPr>
          <p:cNvPr id="4" name="Text 1"/>
          <p:cNvSpPr txBox="1"/>
          <p:nvPr/>
        </p:nvSpPr>
        <p:spPr>
          <a:xfrm>
            <a:off x="457200" y="4069080"/>
            <a:ext cx="8229600" cy="594360"/>
          </a:xfrm>
          <a:prstGeom prst="rect">
            <a:avLst/>
          </a:prstGeom>
          <a:noFill/>
          <a:ln/>
        </p:spPr>
        <p:txBody>
          <a:bodyPr wrap="square" lIns="0" tIns="0" rIns="0" bIns="0" rtlCol="0" anchor="t"/>
          <a:lstStyle/>
          <a:p>
            <a:pPr indent="0" marL="0">
              <a:buNone/>
            </a:pPr>
            <a:r>
              <a:rPr lang="en-US" sz="1200" dirty="0">
                <a:solidFill>
                  <a:schemeClr val="tx2"/>
                </a:solidFill>
              </a:rPr>
              <a:t>Mean ± SD of 5 runs, 20 s each. M1 is measured only on the 40 % of packets that carry IPv6 extension headers; on plain IPv6 both builds were correct. M2 streamed ÷ offered, M3 kernel drops, M4 delivery, M5 IPv6 traffic analysed. Single-vCPU Ubuntu host, loopback.</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Kernel drops and coverage</a:t>
            </a:r>
            <a:endParaRPr lang="en-US" sz="3600" dirty="0"/>
          </a:p>
        </p:txBody>
      </p:sp>
      <p:graphicFrame>
        <p:nvGraphicFramePr>
          <p:cNvPr id="3" name="Chart 0" descr=""/>
          <p:cNvGraphicFramePr/>
          <p:nvPr/>
        </p:nvGraphicFramePr>
        <p:xfrm>
          <a:off x="457200" y="1143000"/>
          <a:ext cx="3977640" cy="26974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709160" y="1143000"/>
          <a:ext cx="3977640" cy="2697480"/>
        </p:xfrm>
        <a:graphic xmlns:a="http://schemas.openxmlformats.org/drawingml/2006/main">
          <a:graphicData uri="http://schemas.openxmlformats.org/drawingml/2006/chart">
            <c:chart xmlns:c="http://schemas.openxmlformats.org/drawingml/2006/chart" r:id="rId2"/>
          </a:graphicData>
        </a:graphic>
      </p:graphicFrame>
      <p:sp>
        <p:nvSpPr>
          <p:cNvPr id="5" name="Link layer callout"/>
          <p:cNvSpPr/>
          <p:nvPr/>
        </p:nvSpPr>
        <p:spPr>
          <a:xfrm>
            <a:off x="457200" y="3977640"/>
            <a:ext cx="8229600" cy="68580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Text 2"/>
          <p:cNvSpPr txBox="1"/>
          <p:nvPr/>
        </p:nvSpPr>
        <p:spPr>
          <a:xfrm>
            <a:off x="685800" y="3977640"/>
            <a:ext cx="7772400" cy="685800"/>
          </a:xfrm>
          <a:prstGeom prst="rect">
            <a:avLst/>
          </a:prstGeom>
          <a:noFill/>
          <a:ln/>
        </p:spPr>
        <p:txBody>
          <a:bodyPr wrap="square" lIns="0" tIns="0" rIns="0" bIns="0" rtlCol="0" anchor="ctr"/>
          <a:lstStyle/>
          <a:p>
            <a:pPr indent="0" marL="0">
              <a:buNone/>
            </a:pPr>
            <a:r>
              <a:rPr lang="en-US" sz="1400" b="1" dirty="0">
                <a:solidFill>
                  <a:schemeClr val="accent1"/>
                </a:solidFill>
              </a:rPr>
              <a:t>Link layer check:  </a:t>
            </a:r>
            <a:pPr indent="0" marL="0">
              <a:buNone/>
            </a:pPr>
            <a:r>
              <a:rPr lang="en-US" sz="1400" dirty="0">
                <a:solidFill>
                  <a:schemeClr val="tx1"/>
                </a:solidFill>
              </a:rPr>
              <a:t>on the “any” interface an Ethernet-only parser decoded 0 of 600 IPv6 packets; the datalink-aware decoder decoded 600 of 600.</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Analysis and limitations</a:t>
            </a:r>
            <a:endParaRPr lang="en-US" sz="3600" dirty="0"/>
          </a:p>
        </p:txBody>
      </p:sp>
      <p:sp>
        <p:nvSpPr>
          <p:cNvPr id="3" name="What the data shows card"/>
          <p:cNvSpPr/>
          <p:nvPr/>
        </p:nvSpPr>
        <p:spPr>
          <a:xfrm>
            <a:off x="457200" y="1188720"/>
            <a:ext cx="3977640" cy="342900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Icon circle"/>
          <p:cNvSpPr/>
          <p:nvPr/>
        </p:nvSpPr>
        <p:spPr>
          <a:xfrm>
            <a:off x="685800" y="1371600"/>
            <a:ext cx="457200" cy="457200"/>
          </a:xfrm>
          <a:prstGeom prst="ellipse">
            <a:avLst/>
          </a:prstGeom>
          <a:solidFill>
            <a:schemeClr val="accent1"/>
          </a:solidFill>
          <a:ln w="12700">
            <a:solidFill>
              <a:schemeClr val="accent1"/>
            </a:solidFill>
            <a:prstDash val="solid"/>
          </a:ln>
        </p:spPr>
      </p:sp>
      <p:pic>
        <p:nvPicPr>
          <p:cNvPr id="5" name="Image 0" descr="icon">    </p:cNvPr>
          <p:cNvPicPr>
            <a:picLocks noChangeAspect="1"/>
          </p:cNvPicPr>
          <p:nvPr/>
        </p:nvPicPr>
        <p:blipFill>
          <a:blip r:embed="rId1"/>
          <a:stretch>
            <a:fillRect/>
          </a:stretch>
        </p:blipFill>
        <p:spPr>
          <a:xfrm>
            <a:off x="800100" y="1485900"/>
            <a:ext cx="228600" cy="228600"/>
          </a:xfrm>
          <a:prstGeom prst="rect">
            <a:avLst/>
          </a:prstGeom>
        </p:spPr>
      </p:pic>
      <p:sp>
        <p:nvSpPr>
          <p:cNvPr id="6" name="Text 3"/>
          <p:cNvSpPr txBox="1"/>
          <p:nvPr/>
        </p:nvSpPr>
        <p:spPr>
          <a:xfrm>
            <a:off x="1280160" y="1371600"/>
            <a:ext cx="3017520"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What the data shows</a:t>
            </a:r>
            <a:endParaRPr lang="en-US" sz="2000" dirty="0"/>
          </a:p>
        </p:txBody>
      </p:sp>
      <p:sp>
        <p:nvSpPr>
          <p:cNvPr id="7" name="Text 4"/>
          <p:cNvSpPr txBox="1"/>
          <p:nvPr/>
        </p:nvSpPr>
        <p:spPr>
          <a:xfrm>
            <a:off x="731520" y="2011680"/>
            <a:ext cx="3474720" cy="2514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Baseline misreported every extension-header packet; proposed got all of them</a:t>
            </a:r>
            <a:endParaRPr lang="en-US" sz="1600" dirty="0"/>
          </a:p>
          <a:p>
            <a:pPr marL="342900" indent="-342900">
              <a:spcAft>
                <a:spcPts val="800"/>
              </a:spcAft>
              <a:buSzPct val="100000"/>
              <a:buChar char="•"/>
            </a:pPr>
            <a:r>
              <a:rPr lang="en-US" sz="1600" dirty="0">
                <a:solidFill>
                  <a:schemeClr val="tx2"/>
                </a:solidFill>
              </a:rPr>
              <a:t>Without the guard, 50 packets/s became 36.8× traffic as posts were re-captured</a:t>
            </a:r>
            <a:endParaRPr lang="en-US" sz="1600" dirty="0"/>
          </a:p>
          <a:p>
            <a:pPr marL="342900" indent="-342900">
              <a:spcAft>
                <a:spcPts val="800"/>
              </a:spcAft>
              <a:buSzPct val="100000"/>
              <a:buChar char="•"/>
            </a:pPr>
            <a:r>
              <a:rPr lang="en-US" sz="1600" dirty="0">
                <a:solidFill>
                  <a:schemeClr val="tx2"/>
                </a:solidFill>
              </a:rPr>
              <a:t>Both builds saturate near 1,800 pkt/s on one CPU; proposed analyses 6.5× more at 10,000 pkt/s</a:t>
            </a:r>
            <a:endParaRPr lang="en-US" sz="1600" dirty="0"/>
          </a:p>
        </p:txBody>
      </p:sp>
      <p:sp>
        <p:nvSpPr>
          <p:cNvPr id="8" name="Limitations card"/>
          <p:cNvSpPr/>
          <p:nvPr/>
        </p:nvSpPr>
        <p:spPr>
          <a:xfrm>
            <a:off x="4709160" y="1188720"/>
            <a:ext cx="3977640" cy="342900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Icon circle"/>
          <p:cNvSpPr/>
          <p:nvPr/>
        </p:nvSpPr>
        <p:spPr>
          <a:xfrm>
            <a:off x="4937760" y="1371600"/>
            <a:ext cx="457200" cy="457200"/>
          </a:xfrm>
          <a:prstGeom prst="ellipse">
            <a:avLst/>
          </a:prstGeom>
          <a:solidFill>
            <a:schemeClr val="accent3"/>
          </a:solidFill>
          <a:ln w="12700">
            <a:solidFill>
              <a:schemeClr val="accent3"/>
            </a:solidFill>
            <a:prstDash val="solid"/>
          </a:ln>
        </p:spPr>
      </p:sp>
      <p:pic>
        <p:nvPicPr>
          <p:cNvPr id="10" name="Image 1" descr="icon">    </p:cNvPr>
          <p:cNvPicPr>
            <a:picLocks noChangeAspect="1"/>
          </p:cNvPicPr>
          <p:nvPr/>
        </p:nvPicPr>
        <p:blipFill>
          <a:blip r:embed="rId2"/>
          <a:stretch>
            <a:fillRect/>
          </a:stretch>
        </p:blipFill>
        <p:spPr>
          <a:xfrm>
            <a:off x="5052060" y="1485900"/>
            <a:ext cx="228600" cy="228600"/>
          </a:xfrm>
          <a:prstGeom prst="rect">
            <a:avLst/>
          </a:prstGeom>
        </p:spPr>
      </p:pic>
      <p:sp>
        <p:nvSpPr>
          <p:cNvPr id="11" name="Text 7"/>
          <p:cNvSpPr txBox="1"/>
          <p:nvPr/>
        </p:nvSpPr>
        <p:spPr>
          <a:xfrm>
            <a:off x="5532120" y="1371600"/>
            <a:ext cx="3017520"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Limitations</a:t>
            </a:r>
            <a:endParaRPr lang="en-US" sz="2000" dirty="0"/>
          </a:p>
        </p:txBody>
      </p:sp>
      <p:sp>
        <p:nvSpPr>
          <p:cNvPr id="12" name="Text 8"/>
          <p:cNvSpPr txBox="1"/>
          <p:nvPr/>
        </p:nvSpPr>
        <p:spPr>
          <a:xfrm>
            <a:off x="4983480" y="2011680"/>
            <a:ext cx="3474720" cy="2514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Non-first IPv6 fragments get false ports (200 of 200 tested)</a:t>
            </a:r>
            <a:endParaRPr lang="en-US" sz="1600" dirty="0"/>
          </a:p>
          <a:p>
            <a:pPr marL="342900" indent="-342900">
              <a:spcAft>
                <a:spcPts val="800"/>
              </a:spcAft>
              <a:buSzPct val="100000"/>
              <a:buChar char="•"/>
            </a:pPr>
            <a:r>
              <a:rPr lang="en-US" sz="1600" dirty="0">
                <a:solidFill>
                  <a:schemeClr val="tx2"/>
                </a:solidFill>
              </a:rPr>
              <a:t>One TCP connection per packet caps throughput</a:t>
            </a:r>
            <a:endParaRPr lang="en-US" sz="1600" dirty="0"/>
          </a:p>
          <a:p>
            <a:pPr marL="342900" indent="-342900">
              <a:spcAft>
                <a:spcPts val="800"/>
              </a:spcAft>
              <a:buSzPct val="100000"/>
              <a:buChar char="•"/>
            </a:pPr>
            <a:r>
              <a:rPr lang="en-US" sz="1600" dirty="0">
                <a:solidFill>
                  <a:schemeClr val="tx2"/>
                </a:solidFill>
              </a:rPr>
              <a:t>No flow reassembly or capture timestamps</a:t>
            </a:r>
            <a:endParaRPr lang="en-US" sz="1600" dirty="0"/>
          </a:p>
          <a:p>
            <a:pPr marL="342900" indent="-342900">
              <a:spcAft>
                <a:spcPts val="800"/>
              </a:spcAft>
              <a:buSzPct val="100000"/>
              <a:buChar char="•"/>
            </a:pPr>
            <a:r>
              <a:rPr lang="en-US" sz="1600" dirty="0">
                <a:solidFill>
                  <a:schemeClr val="tx2"/>
                </a:solidFill>
              </a:rPr>
              <a:t>Dashboard has no authentication or TLS</a:t>
            </a:r>
            <a:endParaRPr lang="en-US" sz="16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bg1"/>
                </a:solidFill>
              </a:rPr>
              <a:t>Conclusion and future work</a:t>
            </a:r>
            <a:endParaRPr lang="en-US" sz="3600" dirty="0"/>
          </a:p>
        </p:txBody>
      </p:sp>
      <p:sp>
        <p:nvSpPr>
          <p:cNvPr id="3" name="Conclusion card"/>
          <p:cNvSpPr/>
          <p:nvPr/>
        </p:nvSpPr>
        <p:spPr>
          <a:xfrm>
            <a:off x="457200" y="1188720"/>
            <a:ext cx="3977640" cy="2834640"/>
          </a:xfrm>
          <a:prstGeom prst="rect">
            <a:avLst/>
          </a:prstGeom>
          <a:solidFill>
            <a:schemeClr val="tx2"/>
          </a:solidFill>
          <a:ln w="12700">
            <a:solidFill>
              <a:schemeClr val="tx2"/>
            </a:solidFill>
            <a:prstDash val="solid"/>
          </a:ln>
        </p:spPr>
      </p:sp>
      <p:sp>
        <p:nvSpPr>
          <p:cNvPr id="4" name="Icon circle"/>
          <p:cNvSpPr/>
          <p:nvPr/>
        </p:nvSpPr>
        <p:spPr>
          <a:xfrm>
            <a:off x="685800" y="1371600"/>
            <a:ext cx="457200" cy="457200"/>
          </a:xfrm>
          <a:prstGeom prst="ellipse">
            <a:avLst/>
          </a:prstGeom>
          <a:solidFill>
            <a:schemeClr val="accent1"/>
          </a:solidFill>
          <a:ln w="12700">
            <a:solidFill>
              <a:schemeClr val="accent1"/>
            </a:solidFill>
            <a:prstDash val="solid"/>
          </a:ln>
        </p:spPr>
      </p:sp>
      <p:pic>
        <p:nvPicPr>
          <p:cNvPr id="5" name="Image 0" descr="icon">    </p:cNvPr>
          <p:cNvPicPr>
            <a:picLocks noChangeAspect="1"/>
          </p:cNvPicPr>
          <p:nvPr/>
        </p:nvPicPr>
        <p:blipFill>
          <a:blip r:embed="rId1"/>
          <a:stretch>
            <a:fillRect/>
          </a:stretch>
        </p:blipFill>
        <p:spPr>
          <a:xfrm>
            <a:off x="800100" y="1485900"/>
            <a:ext cx="228600" cy="228600"/>
          </a:xfrm>
          <a:prstGeom prst="rect">
            <a:avLst/>
          </a:prstGeom>
        </p:spPr>
      </p:pic>
      <p:sp>
        <p:nvSpPr>
          <p:cNvPr id="6" name="Text 3"/>
          <p:cNvSpPr txBox="1"/>
          <p:nvPr/>
        </p:nvSpPr>
        <p:spPr>
          <a:xfrm>
            <a:off x="1280160" y="1371600"/>
            <a:ext cx="3017520" cy="45720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Conclusion</a:t>
            </a:r>
            <a:endParaRPr lang="en-US" sz="2000" dirty="0"/>
          </a:p>
        </p:txBody>
      </p:sp>
      <p:sp>
        <p:nvSpPr>
          <p:cNvPr id="7" name="Text 4"/>
          <p:cNvSpPr txBox="1"/>
          <p:nvPr/>
        </p:nvSpPr>
        <p:spPr>
          <a:xfrm>
            <a:off x="731520" y="2011680"/>
            <a:ext cx="3474720" cy="19202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Three baseline defects removed in a compact, explainable pipeline</a:t>
            </a:r>
            <a:endParaRPr lang="en-US" sz="1600" dirty="0"/>
          </a:p>
          <a:p>
            <a:pPr marL="342900" indent="-342900">
              <a:spcAft>
                <a:spcPts val="800"/>
              </a:spcAft>
              <a:buSzPct val="100000"/>
              <a:buChar char="•"/>
            </a:pPr>
            <a:r>
              <a:rPr lang="en-US" sz="1600" dirty="0">
                <a:solidFill>
                  <a:schemeClr val="bg1"/>
                </a:solidFill>
              </a:rPr>
              <a:t>Extension-header packets identified: 0 % to 100 %</a:t>
            </a:r>
            <a:endParaRPr lang="en-US" sz="1600" dirty="0"/>
          </a:p>
          <a:p>
            <a:pPr marL="342900" indent="-342900">
              <a:spcAft>
                <a:spcPts val="800"/>
              </a:spcAft>
              <a:buSzPct val="100000"/>
              <a:buChar char="•"/>
            </a:pPr>
            <a:r>
              <a:rPr lang="en-US" sz="1600" dirty="0">
                <a:solidFill>
                  <a:schemeClr val="bg1"/>
                </a:solidFill>
              </a:rPr>
              <a:t>Amplification 36.8× to 1.0× and 0 % kernel drops up to 1,000 pkt/s</a:t>
            </a:r>
            <a:endParaRPr lang="en-US" sz="1600" dirty="0"/>
          </a:p>
        </p:txBody>
      </p:sp>
      <p:sp>
        <p:nvSpPr>
          <p:cNvPr id="8" name="Future work card"/>
          <p:cNvSpPr/>
          <p:nvPr/>
        </p:nvSpPr>
        <p:spPr>
          <a:xfrm>
            <a:off x="4709160" y="1188720"/>
            <a:ext cx="3977640" cy="2834640"/>
          </a:xfrm>
          <a:prstGeom prst="rect">
            <a:avLst/>
          </a:prstGeom>
          <a:solidFill>
            <a:schemeClr val="tx2"/>
          </a:solidFill>
          <a:ln w="12700">
            <a:solidFill>
              <a:schemeClr val="tx2"/>
            </a:solidFill>
            <a:prstDash val="solid"/>
          </a:ln>
        </p:spPr>
      </p:sp>
      <p:sp>
        <p:nvSpPr>
          <p:cNvPr id="9" name="Icon circle"/>
          <p:cNvSpPr/>
          <p:nvPr/>
        </p:nvSpPr>
        <p:spPr>
          <a:xfrm>
            <a:off x="4937760" y="1371600"/>
            <a:ext cx="457200" cy="457200"/>
          </a:xfrm>
          <a:prstGeom prst="ellipse">
            <a:avLst/>
          </a:prstGeom>
          <a:solidFill>
            <a:schemeClr val="accent2"/>
          </a:solidFill>
          <a:ln w="12700">
            <a:solidFill>
              <a:schemeClr val="accent2"/>
            </a:solidFill>
            <a:prstDash val="solid"/>
          </a:ln>
        </p:spPr>
      </p:sp>
      <p:pic>
        <p:nvPicPr>
          <p:cNvPr id="10" name="Image 1" descr="icon">    </p:cNvPr>
          <p:cNvPicPr>
            <a:picLocks noChangeAspect="1"/>
          </p:cNvPicPr>
          <p:nvPr/>
        </p:nvPicPr>
        <p:blipFill>
          <a:blip r:embed="rId2"/>
          <a:stretch>
            <a:fillRect/>
          </a:stretch>
        </p:blipFill>
        <p:spPr>
          <a:xfrm>
            <a:off x="5052060" y="1485900"/>
            <a:ext cx="228600" cy="228600"/>
          </a:xfrm>
          <a:prstGeom prst="rect">
            <a:avLst/>
          </a:prstGeom>
        </p:spPr>
      </p:pic>
      <p:sp>
        <p:nvSpPr>
          <p:cNvPr id="11" name="Text 7"/>
          <p:cNvSpPr txBox="1"/>
          <p:nvPr/>
        </p:nvSpPr>
        <p:spPr>
          <a:xfrm>
            <a:off x="5532120" y="1371600"/>
            <a:ext cx="3017520" cy="45720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Future work</a:t>
            </a:r>
            <a:endParaRPr lang="en-US" sz="2000" dirty="0"/>
          </a:p>
        </p:txBody>
      </p:sp>
      <p:sp>
        <p:nvSpPr>
          <p:cNvPr id="12" name="Text 8"/>
          <p:cNvSpPr txBox="1"/>
          <p:nvPr/>
        </p:nvSpPr>
        <p:spPr>
          <a:xfrm>
            <a:off x="4983480" y="2011680"/>
            <a:ext cx="3474720" cy="19202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Persistent connection or batching</a:t>
            </a:r>
            <a:endParaRPr lang="en-US" sz="1600" dirty="0"/>
          </a:p>
          <a:p>
            <a:pPr marL="342900" indent="-342900">
              <a:spcAft>
                <a:spcPts val="800"/>
              </a:spcAft>
              <a:buSzPct val="100000"/>
              <a:buChar char="•"/>
            </a:pPr>
            <a:r>
              <a:rPr lang="en-US" sz="1600" dirty="0">
                <a:solidFill>
                  <a:schemeClr val="bg1"/>
                </a:solidFill>
              </a:rPr>
              <a:t>Flow tracking and TCP analysis</a:t>
            </a:r>
            <a:endParaRPr lang="en-US" sz="1600" dirty="0"/>
          </a:p>
          <a:p>
            <a:pPr marL="342900" indent="-342900">
              <a:spcAft>
                <a:spcPts val="800"/>
              </a:spcAft>
              <a:buSzPct val="100000"/>
              <a:buChar char="•"/>
            </a:pPr>
            <a:r>
              <a:rPr lang="en-US" sz="1600" dirty="0">
                <a:solidFill>
                  <a:schemeClr val="bg1"/>
                </a:solidFill>
              </a:rPr>
              <a:t>Offline pcap mode, anomaly detection</a:t>
            </a:r>
            <a:endParaRPr lang="en-US" sz="1600" dirty="0"/>
          </a:p>
          <a:p>
            <a:pPr marL="342900" indent="-342900">
              <a:spcAft>
                <a:spcPts val="800"/>
              </a:spcAft>
              <a:buSzPct val="100000"/>
              <a:buChar char="•"/>
            </a:pPr>
            <a:r>
              <a:rPr lang="en-US" sz="1600" dirty="0">
                <a:solidFill>
                  <a:schemeClr val="bg1"/>
                </a:solidFill>
              </a:rPr>
              <a:t>Authentication and TLS</a:t>
            </a:r>
            <a:endParaRPr lang="en-US" sz="1600" dirty="0"/>
          </a:p>
        </p:txBody>
      </p:sp>
      <p:sp>
        <p:nvSpPr>
          <p:cNvPr id="13" name="Text 9"/>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200" dirty="0">
                <a:solidFill>
                  <a:schemeClr val="accent6"/>
                </a:solidFill>
              </a:rPr>
              <a:t>References: RFC 8200  |  RFC 9098  |  RFC 7112  |  McCanne and Jacobson, BPF (1993)  |  libpcap and tcpdump</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NetPulse">
  <a:themeElements>
    <a:clrScheme name="NetPulse">
      <a:dk1>
        <a:srgbClr val="0B1F2A"/>
      </a:dk1>
      <a:lt1>
        <a:srgbClr val="FFFFFF"/>
      </a:lt1>
      <a:dk2>
        <a:srgbClr val="14323F"/>
      </a:dk2>
      <a:lt2>
        <a:srgbClr val="EAF2F4"/>
      </a:lt2>
      <a:accent1>
        <a:srgbClr val="0E8A94"/>
      </a:accent1>
      <a:accent2>
        <a:srgbClr val="F2A541"/>
      </a:accent2>
      <a:accent3>
        <a:srgbClr val="D1495B"/>
      </a:accent3>
      <a:accent4>
        <a:srgbClr val="5B7C8D"/>
      </a:accent4>
      <a:accent5>
        <a:srgbClr val="2E5E73"/>
      </a:accent5>
      <a:accent6>
        <a:srgbClr val="8FB8C2"/>
      </a:accent6>
      <a:hlink>
        <a:srgbClr val="0E8A94"/>
      </a:hlink>
      <a:folHlink>
        <a:srgbClr val="5B7C8D"/>
      </a:folHlink>
    </a:clrScheme>
    <a:fontScheme name="NetPul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NetPulse: Real-Time Network Packet Capture, Protocol Decoding and Live Streaming Dashboard</dc:title>
  <dc:subject>PptxGenJS Presentation</dc:subject>
  <dc:creator>Aditya Pratap</dc:creator>
  <cp:lastModifiedBy>Aditya Pratap</cp:lastModifiedBy>
  <cp:revision>1</cp:revision>
  <dcterms:created xsi:type="dcterms:W3CDTF">2026-10-26T13:17:43Z</dcterms:created>
  <dcterms:modified xsi:type="dcterms:W3CDTF">2026-10-26T13:17:43Z</dcterms:modified>
</cp:coreProperties>
</file>